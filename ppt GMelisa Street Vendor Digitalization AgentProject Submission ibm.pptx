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D30066D-C635-4F94-9B01-0E0564CF8045}">
  <a:tblStyle styleId="{FD30066D-C635-4F94-9B01-0E0564CF8045}"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 name="Google Shape;97;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 name="Google Shape;139;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8" name="Google Shape;188;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7" name="Google Shape;197;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p:nvPr>
            <p:ph idx="2" type="pic"/>
          </p:nvPr>
        </p:nvSpPr>
        <p:spPr>
          <a:xfrm>
            <a:off x="5183188" y="987425"/>
            <a:ext cx="6172200" cy="4873625"/>
          </a:xfrm>
          <a:prstGeom prst="rect">
            <a:avLst/>
          </a:prstGeom>
          <a:noFill/>
          <a:ln>
            <a:noFill/>
          </a:ln>
        </p:spPr>
      </p:sp>
      <p:sp>
        <p:nvSpPr>
          <p:cNvPr id="58" name="Google Shape;58;p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1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hyperlink" Target="mailto:EFIBM26263550864@edunetmail.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12"/>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US"/>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13"/>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sp>
        <p:nvSpPr>
          <p:cNvPr id="86" name="Google Shape;86;p13"/>
          <p:cNvSpPr txBox="1"/>
          <p:nvPr/>
        </p:nvSpPr>
        <p:spPr>
          <a:xfrm>
            <a:off x="1206164" y="1460724"/>
            <a:ext cx="10280400" cy="118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0" lang="en-US" sz="2400" u="none" cap="none" strike="noStrike">
                <a:solidFill>
                  <a:srgbClr val="000000"/>
                </a:solidFill>
                <a:highlight>
                  <a:srgbClr val="FFFF00"/>
                </a:highlight>
              </a:rPr>
              <a:t>Domain of  Project –  </a:t>
            </a:r>
            <a:r>
              <a:rPr lang="en-US" sz="2400">
                <a:highlight>
                  <a:srgbClr val="FFFF00"/>
                </a:highlight>
              </a:rPr>
              <a:t>Digital Commerce &amp; MSME Empowerment</a:t>
            </a:r>
            <a:endParaRPr/>
          </a:p>
          <a:p>
            <a:pPr indent="0" lvl="0" marL="0" marR="0" rtl="0" algn="l">
              <a:lnSpc>
                <a:spcPct val="100000"/>
              </a:lnSpc>
              <a:spcBef>
                <a:spcPts val="0"/>
              </a:spcBef>
              <a:spcAft>
                <a:spcPts val="0"/>
              </a:spcAft>
              <a:buNone/>
            </a:pPr>
            <a:r>
              <a:t/>
            </a:r>
            <a:endParaRPr i="0" sz="2400" u="none" cap="none" strike="noStrike">
              <a:solidFill>
                <a:srgbClr val="000000"/>
              </a:solidFill>
              <a:highlight>
                <a:srgbClr val="FFFF00"/>
              </a:highlight>
            </a:endParaRPr>
          </a:p>
          <a:p>
            <a:pPr indent="0" lvl="0" marL="0" marR="0" rtl="0" algn="l">
              <a:lnSpc>
                <a:spcPct val="100000"/>
              </a:lnSpc>
              <a:spcBef>
                <a:spcPts val="0"/>
              </a:spcBef>
              <a:spcAft>
                <a:spcPts val="0"/>
              </a:spcAft>
              <a:buNone/>
            </a:pPr>
            <a:r>
              <a:t/>
            </a:r>
            <a:endParaRPr i="0" sz="2400" u="none" cap="none" strike="noStrike">
              <a:solidFill>
                <a:srgbClr val="000000"/>
              </a:solidFill>
              <a:highlight>
                <a:srgbClr val="FFFF00"/>
              </a:highlight>
            </a:endParaRPr>
          </a:p>
        </p:txBody>
      </p:sp>
      <p:sp>
        <p:nvSpPr>
          <p:cNvPr id="87" name="Google Shape;87;p13"/>
          <p:cNvSpPr txBox="1"/>
          <p:nvPr/>
        </p:nvSpPr>
        <p:spPr>
          <a:xfrm>
            <a:off x="1206162" y="551965"/>
            <a:ext cx="9581100" cy="823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highlight>
                  <a:srgbClr val="FFFF00"/>
                </a:highlight>
                <a:latin typeface="Arial"/>
                <a:ea typeface="Arial"/>
                <a:cs typeface="Arial"/>
                <a:sym typeface="Arial"/>
              </a:rPr>
              <a:t>Project Tile –</a:t>
            </a:r>
            <a:r>
              <a:rPr b="1" lang="en-US" sz="2400">
                <a:highlight>
                  <a:srgbClr val="FFFF00"/>
                </a:highlight>
              </a:rPr>
              <a:t> Street Vendor Digitalization Agent</a:t>
            </a:r>
            <a:endParaRPr b="1" i="0" sz="2400" u="none" cap="none" strike="noStrike">
              <a:solidFill>
                <a:srgbClr val="000000"/>
              </a:solidFill>
              <a:highlight>
                <a:srgbClr val="FFFF00"/>
              </a:highlight>
              <a:latin typeface="Arial"/>
              <a:ea typeface="Arial"/>
              <a:cs typeface="Arial"/>
              <a:sym typeface="Arial"/>
            </a:endParaRPr>
          </a:p>
          <a:p>
            <a:pPr indent="0" lvl="0" marL="0" marR="0" rtl="0" algn="l">
              <a:lnSpc>
                <a:spcPct val="100000"/>
              </a:lnSpc>
              <a:spcBef>
                <a:spcPts val="0"/>
              </a:spcBef>
              <a:spcAft>
                <a:spcPts val="0"/>
              </a:spcAft>
              <a:buNone/>
            </a:pPr>
            <a:r>
              <a:t/>
            </a:r>
            <a:endParaRPr b="1" i="0" sz="2400" u="none" cap="none" strike="noStrike">
              <a:solidFill>
                <a:srgbClr val="000000"/>
              </a:solidFill>
              <a:highlight>
                <a:srgbClr val="FFFF00"/>
              </a:highlight>
              <a:latin typeface="Arial"/>
              <a:ea typeface="Arial"/>
              <a:cs typeface="Arial"/>
              <a:sym typeface="Arial"/>
            </a:endParaRPr>
          </a:p>
        </p:txBody>
      </p:sp>
      <p:graphicFrame>
        <p:nvGraphicFramePr>
          <p:cNvPr id="88" name="Google Shape;88;p13"/>
          <p:cNvGraphicFramePr/>
          <p:nvPr/>
        </p:nvGraphicFramePr>
        <p:xfrm>
          <a:off x="838200" y="2812025"/>
          <a:ext cx="3000000" cy="3000000"/>
        </p:xfrm>
        <a:graphic>
          <a:graphicData uri="http://schemas.openxmlformats.org/drawingml/2006/table">
            <a:tbl>
              <a:tblPr>
                <a:noFill/>
                <a:tableStyleId>{FD30066D-C635-4F94-9B01-0E0564CF8045}</a:tableStyleId>
              </a:tblPr>
              <a:tblGrid>
                <a:gridCol w="1781600"/>
                <a:gridCol w="2449500"/>
                <a:gridCol w="2449500"/>
                <a:gridCol w="2449500"/>
              </a:tblGrid>
              <a:tr h="102000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Student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125125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Gompana</a:t>
                      </a:r>
                      <a:endParaRPr sz="2400" u="none" cap="none" strike="noStrike"/>
                    </a:p>
                    <a:p>
                      <a:pPr indent="0" lvl="0" marL="0" marR="0" rtl="0" algn="l">
                        <a:lnSpc>
                          <a:spcPct val="100000"/>
                        </a:lnSpc>
                        <a:spcBef>
                          <a:spcPts val="0"/>
                        </a:spcBef>
                        <a:spcAft>
                          <a:spcPts val="0"/>
                        </a:spcAft>
                        <a:buClr>
                          <a:srgbClr val="000000"/>
                        </a:buClr>
                        <a:buSzPts val="2400"/>
                        <a:buFont typeface="Arial"/>
                        <a:buNone/>
                      </a:pPr>
                      <a:r>
                        <a:rPr lang="en-US" sz="2400" u="none" cap="none" strike="noStrike"/>
                        <a:t>Melisa</a:t>
                      </a:r>
                      <a:endParaRPr sz="2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melisagompana@gmail.com</a:t>
                      </a:r>
                      <a:endParaRPr sz="2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7287005337</a:t>
                      </a:r>
                      <a:endParaRPr sz="2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pic>
        <p:nvPicPr>
          <p:cNvPr id="89" name="Google Shape;89;p13"/>
          <p:cNvPicPr preferRelativeResize="0"/>
          <p:nvPr/>
        </p:nvPicPr>
        <p:blipFill rotWithShape="1">
          <a:blip r:embed="rId3">
            <a:alphaModFix/>
          </a:blip>
          <a:srcRect b="22733" l="6131" r="14055" t="7737"/>
          <a:stretch/>
        </p:blipFill>
        <p:spPr>
          <a:xfrm>
            <a:off x="3382297" y="3833324"/>
            <a:ext cx="983225" cy="124995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nvSpPr>
        <p:spPr>
          <a:xfrm>
            <a:off x="792456" y="102293"/>
            <a:ext cx="10607100" cy="665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a:t>Problem Statement: Street Vendor Digitalization Agent</a:t>
            </a:r>
            <a:endParaRPr b="1"/>
          </a:p>
          <a:p>
            <a:pPr indent="0" lvl="0" marL="0" marR="0" rtl="0" algn="l">
              <a:lnSpc>
                <a:spcPct val="100000"/>
              </a:lnSpc>
              <a:spcBef>
                <a:spcPts val="0"/>
              </a:spcBef>
              <a:spcAft>
                <a:spcPts val="0"/>
              </a:spcAft>
              <a:buNone/>
            </a:pPr>
            <a:r>
              <a:t/>
            </a:r>
            <a:endParaRPr b="1"/>
          </a:p>
          <a:p>
            <a:pPr indent="0" lvl="0" marL="0" marR="0" rtl="0" algn="l">
              <a:lnSpc>
                <a:spcPct val="100000"/>
              </a:lnSpc>
              <a:spcBef>
                <a:spcPts val="0"/>
              </a:spcBef>
              <a:spcAft>
                <a:spcPts val="0"/>
              </a:spcAft>
              <a:buNone/>
            </a:pPr>
            <a:r>
              <a:rPr b="1" lang="en-US"/>
              <a:t>The Challenge</a:t>
            </a:r>
            <a:endParaRPr b="1"/>
          </a:p>
          <a:p>
            <a:pPr indent="0" lvl="0" marL="0" marR="0" rtl="0" algn="l">
              <a:lnSpc>
                <a:spcPct val="100000"/>
              </a:lnSpc>
              <a:spcBef>
                <a:spcPts val="0"/>
              </a:spcBef>
              <a:spcAft>
                <a:spcPts val="0"/>
              </a:spcAft>
              <a:buNone/>
            </a:pPr>
            <a:r>
              <a:t/>
            </a:r>
            <a:endParaRPr b="1"/>
          </a:p>
          <a:p>
            <a:pPr indent="0" lvl="0" marL="0" marR="0" rtl="0" algn="l">
              <a:lnSpc>
                <a:spcPct val="100000"/>
              </a:lnSpc>
              <a:spcBef>
                <a:spcPts val="0"/>
              </a:spcBef>
              <a:spcAft>
                <a:spcPts val="0"/>
              </a:spcAft>
              <a:buNone/>
            </a:pPr>
            <a:r>
              <a:rPr b="1" lang="en-US"/>
              <a:t>Street vendors and micro-entrepreneurs play a vital role in the local economy, yet many struggle to establish a digital presence and access modern business opportunities. Information about digital payments, government MSME schemes, online business registration, local marketing, and customer engagement is scattered across multiple government portals, fintech platforms, and commerce websites. Without personalized, real-time guidance, vendors often miss opportunities to increase visibility, attract more customers, access financial support, and grow their businesses.</a:t>
            </a:r>
            <a:endParaRPr b="1"/>
          </a:p>
          <a:p>
            <a:pPr indent="0" lvl="0" marL="0" marR="0" rtl="0" algn="l">
              <a:lnSpc>
                <a:spcPct val="100000"/>
              </a:lnSpc>
              <a:spcBef>
                <a:spcPts val="0"/>
              </a:spcBef>
              <a:spcAft>
                <a:spcPts val="0"/>
              </a:spcAft>
              <a:buNone/>
            </a:pPr>
            <a:r>
              <a:t/>
            </a:r>
            <a:endParaRPr b="1"/>
          </a:p>
          <a:p>
            <a:pPr indent="0" lvl="0" marL="0" marR="0" rtl="0" algn="l">
              <a:lnSpc>
                <a:spcPct val="100000"/>
              </a:lnSpc>
              <a:spcBef>
                <a:spcPts val="0"/>
              </a:spcBef>
              <a:spcAft>
                <a:spcPts val="0"/>
              </a:spcAft>
              <a:buNone/>
            </a:pPr>
            <a:r>
              <a:rPr b="1" lang="en-US"/>
              <a:t>The Objective</a:t>
            </a:r>
            <a:endParaRPr b="1"/>
          </a:p>
          <a:p>
            <a:pPr indent="0" lvl="0" marL="0" marR="0" rtl="0" algn="l">
              <a:lnSpc>
                <a:spcPct val="100000"/>
              </a:lnSpc>
              <a:spcBef>
                <a:spcPts val="0"/>
              </a:spcBef>
              <a:spcAft>
                <a:spcPts val="0"/>
              </a:spcAft>
              <a:buNone/>
            </a:pPr>
            <a:r>
              <a:t/>
            </a:r>
            <a:endParaRPr b="1"/>
          </a:p>
          <a:p>
            <a:pPr indent="0" lvl="0" marL="0" marR="0" rtl="0" algn="l">
              <a:lnSpc>
                <a:spcPct val="100000"/>
              </a:lnSpc>
              <a:spcBef>
                <a:spcPts val="0"/>
              </a:spcBef>
              <a:spcAft>
                <a:spcPts val="0"/>
              </a:spcAft>
              <a:buNone/>
            </a:pPr>
            <a:r>
              <a:rPr b="1" lang="en-US"/>
              <a:t>Build an AI-powered Street Vendor Digitalization Agent that provides personalized digital business guidance and support for street vendors and micro-entrepreneurs. The solution should:</a:t>
            </a:r>
            <a:endParaRPr b="1"/>
          </a:p>
          <a:p>
            <a:pPr indent="0" lvl="0" marL="0" marR="0" rtl="0" algn="l">
              <a:lnSpc>
                <a:spcPct val="100000"/>
              </a:lnSpc>
              <a:spcBef>
                <a:spcPts val="0"/>
              </a:spcBef>
              <a:spcAft>
                <a:spcPts val="0"/>
              </a:spcAft>
              <a:buNone/>
            </a:pPr>
            <a:r>
              <a:t/>
            </a:r>
            <a:endParaRPr b="1"/>
          </a:p>
          <a:p>
            <a:pPr indent="0" lvl="0" marL="0" marR="0" rtl="0" algn="l">
              <a:lnSpc>
                <a:spcPct val="100000"/>
              </a:lnSpc>
              <a:spcBef>
                <a:spcPts val="0"/>
              </a:spcBef>
              <a:spcAft>
                <a:spcPts val="0"/>
              </a:spcAft>
              <a:buNone/>
            </a:pPr>
            <a:r>
              <a:rPr b="1" lang="en-US"/>
              <a:t>- Business Profile Generation – Create professional digital business profiles based on the vendor's products, services, and location.</a:t>
            </a:r>
            <a:endParaRPr b="1"/>
          </a:p>
          <a:p>
            <a:pPr indent="0" lvl="0" marL="0" marR="0" rtl="0" algn="l">
              <a:lnSpc>
                <a:spcPct val="100000"/>
              </a:lnSpc>
              <a:spcBef>
                <a:spcPts val="0"/>
              </a:spcBef>
              <a:spcAft>
                <a:spcPts val="0"/>
              </a:spcAft>
              <a:buNone/>
            </a:pPr>
            <a:r>
              <a:rPr b="1" lang="en-US"/>
              <a:t>- RAG-Based Information Retrieval – Fetch and summarize real-time information about MSME schemes, PM SVANidhi, digital payment guidelines, government policies, and business registration from trusted sources.</a:t>
            </a:r>
            <a:endParaRPr b="1"/>
          </a:p>
          <a:p>
            <a:pPr indent="0" lvl="0" marL="0" marR="0" rtl="0" algn="l">
              <a:lnSpc>
                <a:spcPct val="100000"/>
              </a:lnSpc>
              <a:spcBef>
                <a:spcPts val="0"/>
              </a:spcBef>
              <a:spcAft>
                <a:spcPts val="0"/>
              </a:spcAft>
              <a:buNone/>
            </a:pPr>
            <a:r>
              <a:rPr b="1" lang="en-US"/>
              <a:t>- Digital Payment &amp; UPI Setup – Guide vendors through setting up UPI QR codes, digital wallets, and online payment systems.</a:t>
            </a:r>
            <a:endParaRPr b="1"/>
          </a:p>
          <a:p>
            <a:pPr indent="0" lvl="0" marL="0" marR="0" rtl="0" algn="l">
              <a:lnSpc>
                <a:spcPct val="100000"/>
              </a:lnSpc>
              <a:spcBef>
                <a:spcPts val="0"/>
              </a:spcBef>
              <a:spcAft>
                <a:spcPts val="0"/>
              </a:spcAft>
              <a:buNone/>
            </a:pPr>
            <a:r>
              <a:rPr b="1" lang="en-US"/>
              <a:t>- Local SEO &amp; Marketing Support – Recommend Google Business Profile setup, local SEO strategies, online listing platforms, and promotional ideas to improve visibility.</a:t>
            </a:r>
            <a:endParaRPr b="1"/>
          </a:p>
          <a:p>
            <a:pPr indent="0" lvl="0" marL="0" marR="0" rtl="0" algn="l">
              <a:lnSpc>
                <a:spcPct val="100000"/>
              </a:lnSpc>
              <a:spcBef>
                <a:spcPts val="0"/>
              </a:spcBef>
              <a:spcAft>
                <a:spcPts val="0"/>
              </a:spcAft>
              <a:buNone/>
            </a:pPr>
            <a:r>
              <a:rPr b="1" lang="en-US"/>
              <a:t>- Multi-Agent System –</a:t>
            </a:r>
            <a:endParaRPr b="1"/>
          </a:p>
          <a:p>
            <a:pPr indent="0" lvl="0" marL="0" marR="0" rtl="0" algn="l">
              <a:lnSpc>
                <a:spcPct val="100000"/>
              </a:lnSpc>
              <a:spcBef>
                <a:spcPts val="0"/>
              </a:spcBef>
              <a:spcAft>
                <a:spcPts val="0"/>
              </a:spcAft>
              <a:buNone/>
            </a:pPr>
            <a:r>
              <a:rPr b="1" lang="en-US"/>
              <a:t>  - Business Profile Agent (creates digital business profiles)</a:t>
            </a:r>
            <a:endParaRPr b="1"/>
          </a:p>
          <a:p>
            <a:pPr indent="0" lvl="0" marL="0" marR="0" rtl="0" algn="l">
              <a:lnSpc>
                <a:spcPct val="100000"/>
              </a:lnSpc>
              <a:spcBef>
                <a:spcPts val="0"/>
              </a:spcBef>
              <a:spcAft>
                <a:spcPts val="0"/>
              </a:spcAft>
              <a:buNone/>
            </a:pPr>
            <a:r>
              <a:rPr b="1" lang="en-US"/>
              <a:t>  - Government Scheme Agent (retrieves MSME schemes, loans, and policy information)</a:t>
            </a:r>
            <a:endParaRPr b="1"/>
          </a:p>
          <a:p>
            <a:pPr indent="0" lvl="0" marL="0" marR="0" rtl="0" algn="l">
              <a:lnSpc>
                <a:spcPct val="100000"/>
              </a:lnSpc>
              <a:spcBef>
                <a:spcPts val="0"/>
              </a:spcBef>
              <a:spcAft>
                <a:spcPts val="0"/>
              </a:spcAft>
              <a:buNone/>
            </a:pPr>
            <a:r>
              <a:rPr b="1" lang="en-US"/>
              <a:t>  - Digital Payment Agent (assists with UPI and QR code setup)</a:t>
            </a:r>
            <a:endParaRPr b="1"/>
          </a:p>
          <a:p>
            <a:pPr indent="0" lvl="0" marL="0" marR="0" rtl="0" algn="l">
              <a:lnSpc>
                <a:spcPct val="100000"/>
              </a:lnSpc>
              <a:spcBef>
                <a:spcPts val="0"/>
              </a:spcBef>
              <a:spcAft>
                <a:spcPts val="0"/>
              </a:spcAft>
              <a:buNone/>
            </a:pPr>
            <a:r>
              <a:rPr b="1" lang="en-US"/>
              <a:t>  - Marketing &amp; Customer Engagement Agent (suggests promotional campaigns, local SEO, and customer retention strategies)</a:t>
            </a:r>
            <a:endParaRPr b="1"/>
          </a:p>
          <a:p>
            <a:pPr indent="0" lvl="0" marL="0" marR="0" rtl="0" algn="l">
              <a:lnSpc>
                <a:spcPct val="100000"/>
              </a:lnSpc>
              <a:spcBef>
                <a:spcPts val="0"/>
              </a:spcBef>
              <a:spcAft>
                <a:spcPts val="0"/>
              </a:spcAft>
              <a:buNone/>
            </a:pPr>
            <a:r>
              <a:rPr b="1" lang="en-US"/>
              <a:t>- Business Insights Dashboard – Display digital onboarding progress, available government benefits, customer engagement recommendations, business growth insights, and marketing performance in a user-friendly dashboard.</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nvSpPr>
        <p:spPr>
          <a:xfrm>
            <a:off x="792443" y="704081"/>
            <a:ext cx="10607100" cy="623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lang="en-US"/>
              <a:t>Proposed Solution: AI-Powered Street Vendor Digitalization Agent</a:t>
            </a:r>
            <a:endParaRPr b="1"/>
          </a:p>
          <a:p>
            <a:pPr indent="0" lvl="0" marL="0" marR="0" rtl="0" algn="l">
              <a:lnSpc>
                <a:spcPct val="100000"/>
              </a:lnSpc>
              <a:spcBef>
                <a:spcPts val="0"/>
              </a:spcBef>
              <a:spcAft>
                <a:spcPts val="0"/>
              </a:spcAft>
              <a:buNone/>
            </a:pPr>
            <a:r>
              <a:rPr b="1" lang="en-US"/>
              <a:t>The proposed solution is a multi-agent AI-powered Street Vendor Digitalization Agent built using LangFlow, IBM watsonx.ai, and IBM Granite Models to provide personalized, real-time digital business guidance for street vendors and micro-entrepreneurs. The system addresses challenges in digital onboarding, online visibility, digital payments, and business growth through an intelligent, modular architecture.</a:t>
            </a:r>
            <a:endParaRPr b="1"/>
          </a:p>
          <a:p>
            <a:pPr indent="0" lvl="0" marL="0" marR="0" rtl="0" algn="l">
              <a:lnSpc>
                <a:spcPct val="100000"/>
              </a:lnSpc>
              <a:spcBef>
                <a:spcPts val="0"/>
              </a:spcBef>
              <a:spcAft>
                <a:spcPts val="0"/>
              </a:spcAft>
              <a:buNone/>
            </a:pPr>
            <a:r>
              <a:rPr b="1" lang="en-US"/>
              <a:t>At its core, the solution uses a Retrieval-Augmented Generation (RAG) pipeline to fetch accurate information from trusted sources such as MSME portals, PM SVANidhi Scheme, Digital India resources, UPI guidelines, and government policies. This information is embedded and stored in a vector database, enabling the system to retrieve and summarize relevant business information using IBM Granite models.</a:t>
            </a:r>
            <a:endParaRPr b="1"/>
          </a:p>
          <a:p>
            <a:pPr indent="0" lvl="0" marL="0" marR="0" rtl="0" algn="l">
              <a:lnSpc>
                <a:spcPct val="100000"/>
              </a:lnSpc>
              <a:spcBef>
                <a:spcPts val="0"/>
              </a:spcBef>
              <a:spcAft>
                <a:spcPts val="0"/>
              </a:spcAft>
              <a:buNone/>
            </a:pPr>
            <a:r>
              <a:rPr b="1" lang="en-US"/>
              <a:t>The system consists of four key agents:</a:t>
            </a:r>
            <a:endParaRPr b="1"/>
          </a:p>
          <a:p>
            <a:pPr indent="0" lvl="0" marL="0" marR="0" rtl="0" algn="l">
              <a:lnSpc>
                <a:spcPct val="100000"/>
              </a:lnSpc>
              <a:spcBef>
                <a:spcPts val="0"/>
              </a:spcBef>
              <a:spcAft>
                <a:spcPts val="0"/>
              </a:spcAft>
              <a:buNone/>
            </a:pPr>
            <a:r>
              <a:rPr b="1" lang="en-US"/>
              <a:t>Business Profile Agent creates professional digital business profiles based on the vendor's products, services, and location.</a:t>
            </a:r>
            <a:endParaRPr b="1"/>
          </a:p>
          <a:p>
            <a:pPr indent="0" lvl="0" marL="0" marR="0" rtl="0" algn="l">
              <a:lnSpc>
                <a:spcPct val="100000"/>
              </a:lnSpc>
              <a:spcBef>
                <a:spcPts val="0"/>
              </a:spcBef>
              <a:spcAft>
                <a:spcPts val="0"/>
              </a:spcAft>
              <a:buNone/>
            </a:pPr>
            <a:r>
              <a:rPr b="1" lang="en-US"/>
              <a:t>Government Scheme Agent retrieves and summarizes information about MSME schemes, loans, subsidies, and business registration using RAG.</a:t>
            </a:r>
            <a:endParaRPr b="1"/>
          </a:p>
          <a:p>
            <a:pPr indent="0" lvl="0" marL="0" marR="0" rtl="0" algn="l">
              <a:lnSpc>
                <a:spcPct val="100000"/>
              </a:lnSpc>
              <a:spcBef>
                <a:spcPts val="0"/>
              </a:spcBef>
              <a:spcAft>
                <a:spcPts val="0"/>
              </a:spcAft>
              <a:buNone/>
            </a:pPr>
            <a:r>
              <a:rPr b="1" lang="en-US"/>
              <a:t>Digital Payment Agent provides step-by-step guidance for setting up UPI, QR codes, digital wallets, and secure online payment systems.</a:t>
            </a:r>
            <a:endParaRPr b="1"/>
          </a:p>
          <a:p>
            <a:pPr indent="0" lvl="0" marL="0" marR="0" rtl="0" algn="l">
              <a:lnSpc>
                <a:spcPct val="100000"/>
              </a:lnSpc>
              <a:spcBef>
                <a:spcPts val="0"/>
              </a:spcBef>
              <a:spcAft>
                <a:spcPts val="0"/>
              </a:spcAft>
              <a:buNone/>
            </a:pPr>
            <a:r>
              <a:rPr b="1" lang="en-US"/>
              <a:t>Marketing &amp; Customer Engagement Agent recommends local SEO strategies, Google Business Profile setup, online listing platforms, pricing suggestions, promotional content, and customer engagement techniques.</a:t>
            </a:r>
            <a:endParaRPr b="1"/>
          </a:p>
          <a:p>
            <a:pPr indent="0" lvl="0" marL="0" marR="0" rtl="0" algn="l">
              <a:lnSpc>
                <a:spcPct val="100000"/>
              </a:lnSpc>
              <a:spcBef>
                <a:spcPts val="0"/>
              </a:spcBef>
              <a:spcAft>
                <a:spcPts val="0"/>
              </a:spcAft>
              <a:buNone/>
            </a:pPr>
            <a:r>
              <a:rPr b="1" lang="en-US"/>
              <a:t>The solution includes a user-friendly dashboard (built with Streamlit or React) that displays digital onboarding progress, available government schemes, business profile status, marketing recommendations, and customer engagement insights.</a:t>
            </a:r>
            <a:endParaRPr b="1"/>
          </a:p>
          <a:p>
            <a:pPr indent="0" lvl="0" marL="0" marR="0" rtl="0" algn="l">
              <a:lnSpc>
                <a:spcPct val="100000"/>
              </a:lnSpc>
              <a:spcBef>
                <a:spcPts val="0"/>
              </a:spcBef>
              <a:spcAft>
                <a:spcPts val="0"/>
              </a:spcAft>
              <a:buNone/>
            </a:pPr>
            <a:r>
              <a:rPr b="1" lang="en-US"/>
              <a:t>LangFlow is used to orchestrate agent workflows, while IBM watsonx.ai ensures scalable model deployment, embeddings, and AI governance. IBM Granite models power reasoning, retrieval, summarization, and personalized business recommendations.</a:t>
            </a:r>
            <a:endParaRPr b="1"/>
          </a:p>
          <a:p>
            <a:pPr indent="0" lvl="0" marL="0" marR="0" rtl="0" algn="l">
              <a:lnSpc>
                <a:spcPct val="100000"/>
              </a:lnSpc>
              <a:spcBef>
                <a:spcPts val="0"/>
              </a:spcBef>
              <a:spcAft>
                <a:spcPts val="0"/>
              </a:spcAft>
              <a:buNone/>
            </a:pPr>
            <a:r>
              <a:rPr b="1" lang="en-US"/>
              <a:t>Overall, this solution delivers an end-to-end intelligent digital business assistant that empowers street vendors to improve their digital presence, access government benefits, adopt digital payments, attract more customers, and grow their businesses in the hyperlocal economy.</a:t>
            </a:r>
            <a:endParaRPr b="1"/>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0" name="Google Shape;100;p15"/>
          <p:cNvSpPr txBox="1"/>
          <p:nvPr/>
        </p:nvSpPr>
        <p:spPr>
          <a:xfrm flipH="1">
            <a:off x="576075" y="246274"/>
            <a:ext cx="7214700" cy="45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Proposed Solution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nvSpPr>
        <p:spPr>
          <a:xfrm>
            <a:off x="777250" y="946300"/>
            <a:ext cx="10515600" cy="525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1800"/>
              <a:t>Technology Used</a:t>
            </a:r>
            <a:endParaRPr b="1" sz="1800"/>
          </a:p>
          <a:p>
            <a:pPr indent="0" lvl="0" marL="0" marR="0" rtl="0" algn="l">
              <a:lnSpc>
                <a:spcPct val="100000"/>
              </a:lnSpc>
              <a:spcBef>
                <a:spcPts val="0"/>
              </a:spcBef>
              <a:spcAft>
                <a:spcPts val="0"/>
              </a:spcAft>
              <a:buNone/>
            </a:pPr>
            <a:r>
              <a:rPr b="1" lang="en-US" sz="1800"/>
              <a:t>LangFlow Platform – For designing and orchestrating multi-agent workflows visually.</a:t>
            </a:r>
            <a:endParaRPr b="1" sz="1800"/>
          </a:p>
          <a:p>
            <a:pPr indent="0" lvl="0" marL="0" marR="0" rtl="0" algn="l">
              <a:lnSpc>
                <a:spcPct val="100000"/>
              </a:lnSpc>
              <a:spcBef>
                <a:spcPts val="0"/>
              </a:spcBef>
              <a:spcAft>
                <a:spcPts val="0"/>
              </a:spcAft>
              <a:buNone/>
            </a:pPr>
            <a:r>
              <a:rPr b="1" lang="en-US" sz="1800"/>
              <a:t>IBM BOB (Build on IBM) – For developing, testing, and deploying the Street Vendor Digitalization Agent using IBM's AI development platform and tools.</a:t>
            </a:r>
            <a:endParaRPr b="1" sz="1800"/>
          </a:p>
          <a:p>
            <a:pPr indent="0" lvl="0" marL="0" marR="0" rtl="0" algn="l">
              <a:lnSpc>
                <a:spcPct val="100000"/>
              </a:lnSpc>
              <a:spcBef>
                <a:spcPts val="0"/>
              </a:spcBef>
              <a:spcAft>
                <a:spcPts val="0"/>
              </a:spcAft>
              <a:buNone/>
            </a:pPr>
            <a:r>
              <a:rPr b="1" lang="en-US" sz="1800"/>
              <a:t>IBM Granite Model – For eg. ibm-granite-3-2-8b – For natural language understanding, reasoning, business profile generation, and personalized business recommendations.</a:t>
            </a:r>
            <a:endParaRPr b="1" sz="1800"/>
          </a:p>
          <a:p>
            <a:pPr indent="0" lvl="0" marL="0" marR="0" rtl="0" algn="l">
              <a:lnSpc>
                <a:spcPct val="100000"/>
              </a:lnSpc>
              <a:spcBef>
                <a:spcPts val="0"/>
              </a:spcBef>
              <a:spcAft>
                <a:spcPts val="0"/>
              </a:spcAft>
              <a:buNone/>
            </a:pPr>
            <a:r>
              <a:rPr b="1" lang="en-US" sz="1800"/>
              <a:t>IBM Cloud – It provides the infrastructure to build, deploy, and scale the Street Vendor Digitalization Agent efficiently. IBM Cloud enables a reliable, secure, and scalable environment for deploying the Street Vendor Digitalization Agent.</a:t>
            </a:r>
            <a:endParaRPr b="1" sz="1800"/>
          </a:p>
          <a:p>
            <a:pPr indent="0" lvl="0" marL="0" marR="0" rtl="0" algn="l">
              <a:lnSpc>
                <a:spcPct val="100000"/>
              </a:lnSpc>
              <a:spcBef>
                <a:spcPts val="0"/>
              </a:spcBef>
              <a:spcAft>
                <a:spcPts val="0"/>
              </a:spcAft>
              <a:buNone/>
            </a:pPr>
            <a:r>
              <a:rPr b="1" lang="en-US" sz="1800"/>
              <a:t>RAG (Retrieval-Augmented Generation) – RAG fetches real-time information first from government portals, MSME schemes, UPI guidelines, and digital commerce platforms, then generates intelligent answers, making the Street Vendor Digitalization Agent more trustworthy and effective.</a:t>
            </a:r>
            <a:endParaRPr b="1" sz="1800"/>
          </a:p>
          <a:p>
            <a:pPr indent="0" lvl="0" marL="0" marR="0" rtl="0" algn="l">
              <a:lnSpc>
                <a:spcPct val="100000"/>
              </a:lnSpc>
              <a:spcBef>
                <a:spcPts val="0"/>
              </a:spcBef>
              <a:spcAft>
                <a:spcPts val="0"/>
              </a:spcAft>
              <a:buNone/>
            </a:pPr>
            <a:r>
              <a:rPr b="1" lang="en-US" sz="1800"/>
              <a:t>IBM watsonx.ai – For model deployment, embeddings, and AI governance.</a:t>
            </a:r>
            <a:endParaRPr b="1" sz="1800"/>
          </a:p>
          <a:p>
            <a:pPr indent="0" lvl="0" marL="0" marR="0" rtl="0" algn="l">
              <a:lnSpc>
                <a:spcPct val="100000"/>
              </a:lnSpc>
              <a:spcBef>
                <a:spcPts val="0"/>
              </a:spcBef>
              <a:spcAft>
                <a:spcPts val="0"/>
              </a:spcAft>
              <a:buNone/>
            </a:pPr>
            <a:r>
              <a:rPr b="1" lang="en-US" sz="1800"/>
              <a:t>Vector Database (FAISS/Chroma) – For RAG-based retrieval of MSME schemes, government policies, digital payment guidelines, and business information.</a:t>
            </a:r>
            <a:endParaRPr b="1" sz="1800"/>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Langflow</a:t>
            </a:r>
            <a:r>
              <a:rPr b="1" i="0" lang="en-US" sz="3500" u="none" cap="none" strike="noStrike">
                <a:solidFill>
                  <a:srgbClr val="051D3A"/>
                </a:solidFill>
                <a:latin typeface="Times New Roman"/>
                <a:ea typeface="Times New Roman"/>
                <a:cs typeface="Times New Roman"/>
                <a:sym typeface="Times New Roman"/>
              </a:rPr>
              <a:t> </a:t>
            </a:r>
            <a:r>
              <a:rPr b="1" i="0" lang="en-US" sz="2400" u="none" cap="none" strike="noStrike">
                <a:solidFill>
                  <a:srgbClr val="000000"/>
                </a:solidFill>
                <a:latin typeface="Arial"/>
                <a:ea typeface="Arial"/>
                <a:cs typeface="Arial"/>
                <a:sym typeface="Arial"/>
              </a:rPr>
              <a:t>component Used -</a:t>
            </a:r>
            <a:endParaRPr b="1" i="0" sz="2400" u="none" cap="none" strike="noStrike">
              <a:solidFill>
                <a:srgbClr val="000000"/>
              </a:solidFill>
              <a:latin typeface="Arial"/>
              <a:ea typeface="Arial"/>
              <a:cs typeface="Arial"/>
              <a:sym typeface="Arial"/>
            </a:endParaRPr>
          </a:p>
        </p:txBody>
      </p:sp>
      <p:sp>
        <p:nvSpPr>
          <p:cNvPr id="111" name="Google Shape;111;p17"/>
          <p:cNvSpPr/>
          <p:nvPr/>
        </p:nvSpPr>
        <p:spPr>
          <a:xfrm>
            <a:off x="2264331" y="6784578"/>
            <a:ext cx="2140744"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2" name="Google Shape;112;p17"/>
          <p:cNvSpPr/>
          <p:nvPr/>
        </p:nvSpPr>
        <p:spPr>
          <a:xfrm>
            <a:off x="1782604"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3" name="Google Shape;113;p17"/>
          <p:cNvSpPr/>
          <p:nvPr/>
        </p:nvSpPr>
        <p:spPr>
          <a:xfrm>
            <a:off x="5732383"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4" name="Google Shape;114;p17"/>
          <p:cNvSpPr/>
          <p:nvPr/>
        </p:nvSpPr>
        <p:spPr>
          <a:xfrm>
            <a:off x="5077301"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5" name="Google Shape;115;p17"/>
          <p:cNvSpPr/>
          <p:nvPr/>
        </p:nvSpPr>
        <p:spPr>
          <a:xfrm>
            <a:off x="9027081"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6" name="Google Shape;116;p17"/>
          <p:cNvSpPr/>
          <p:nvPr/>
        </p:nvSpPr>
        <p:spPr>
          <a:xfrm>
            <a:off x="8371999"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7" name="Google Shape;117;p17"/>
          <p:cNvSpPr txBox="1"/>
          <p:nvPr/>
        </p:nvSpPr>
        <p:spPr>
          <a:xfrm>
            <a:off x="957900" y="659225"/>
            <a:ext cx="10276200" cy="6033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n-US" sz="2400"/>
              <a:t>1) Chat Input – Interface where street vendors enter their business details, queries, or requirements (text/voice), such as products sold, business location, or digitalization needs.</a:t>
            </a:r>
            <a:endParaRPr sz="2400"/>
          </a:p>
          <a:p>
            <a:pPr indent="0" lvl="0" marL="0" rtl="0" algn="l">
              <a:spcBef>
                <a:spcPts val="0"/>
              </a:spcBef>
              <a:spcAft>
                <a:spcPts val="0"/>
              </a:spcAft>
              <a:buNone/>
            </a:pPr>
            <a:r>
              <a:rPr lang="en-US" sz="2400"/>
              <a:t>2) IBM watsonx AI Agent – Processes vendor input using IBM Granite models to generate personalized business profiles, government scheme recommendations, UPI setup guidance, and digital marketing suggestions.</a:t>
            </a:r>
            <a:endParaRPr sz="2400"/>
          </a:p>
          <a:p>
            <a:pPr indent="0" lvl="0" marL="0" rtl="0" algn="l">
              <a:spcBef>
                <a:spcPts val="0"/>
              </a:spcBef>
              <a:spcAft>
                <a:spcPts val="0"/>
              </a:spcAft>
              <a:buNone/>
            </a:pPr>
            <a:r>
              <a:rPr lang="en-US" sz="2400"/>
              <a:t>3) Name of IBM Granite Model – Granite-4.0-8B-Instruct → Fast and efficient for real-time business guidance, reasoning, and personalized recommendations.</a:t>
            </a:r>
            <a:endParaRPr sz="2400"/>
          </a:p>
          <a:p>
            <a:pPr indent="0" lvl="0" marL="0" rtl="0" algn="l">
              <a:spcBef>
                <a:spcPts val="0"/>
              </a:spcBef>
              <a:spcAft>
                <a:spcPts val="0"/>
              </a:spcAft>
              <a:buNone/>
            </a:pPr>
            <a:r>
              <a:rPr lang="en-US" sz="2400"/>
              <a:t>4) Chat Output – Displays AI-generated responses such as business profiles, MSME scheme details, UPI QR setup instructions, local SEO strategies, customer engagement tips, and promotional recommendations.</a:t>
            </a:r>
            <a:endParaRPr sz="2400"/>
          </a:p>
          <a:p>
            <a:pPr indent="0" lvl="0" marL="0" rtl="0" algn="l">
              <a:spcBef>
                <a:spcPts val="0"/>
              </a:spcBef>
              <a:spcAft>
                <a:spcPts val="0"/>
              </a:spcAft>
              <a:buNone/>
            </a:pPr>
            <a:r>
              <a:rPr lang="en-US" sz="2400"/>
              <a:t>5) File Component – Stores and retrieves government policies, MSME scheme documents, digital payment guidelines, and business knowledge for RAG-based information retrieval.</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Langflow</a:t>
            </a:r>
            <a:r>
              <a:rPr b="1" i="0" lang="en-US" sz="3500" u="none" cap="none" strike="noStrike">
                <a:solidFill>
                  <a:srgbClr val="051D3A"/>
                </a:solidFill>
                <a:latin typeface="Times New Roman"/>
                <a:ea typeface="Times New Roman"/>
                <a:cs typeface="Times New Roman"/>
                <a:sym typeface="Times New Roman"/>
              </a:rPr>
              <a:t> </a:t>
            </a:r>
            <a:r>
              <a:rPr b="1" i="0" lang="en-US" sz="2400" u="none" cap="none" strike="noStrike">
                <a:solidFill>
                  <a:srgbClr val="000000"/>
                </a:solidFill>
                <a:latin typeface="Arial"/>
                <a:ea typeface="Arial"/>
                <a:cs typeface="Arial"/>
                <a:sym typeface="Arial"/>
              </a:rPr>
              <a:t>workflow -</a:t>
            </a:r>
            <a:endParaRPr b="1" i="0" sz="2400" u="none" cap="none" strike="noStrike">
              <a:solidFill>
                <a:srgbClr val="000000"/>
              </a:solidFill>
              <a:latin typeface="Arial"/>
              <a:ea typeface="Arial"/>
              <a:cs typeface="Arial"/>
              <a:sym typeface="Arial"/>
            </a:endParaRPr>
          </a:p>
        </p:txBody>
      </p:sp>
      <p:pic>
        <p:nvPicPr>
          <p:cNvPr id="123" name="Google Shape;123;p18"/>
          <p:cNvPicPr preferRelativeResize="0"/>
          <p:nvPr/>
        </p:nvPicPr>
        <p:blipFill rotWithShape="1">
          <a:blip r:embed="rId3">
            <a:alphaModFix/>
          </a:blip>
          <a:srcRect b="0" l="0" r="0" t="0"/>
          <a:stretch/>
        </p:blipFill>
        <p:spPr>
          <a:xfrm>
            <a:off x="576838" y="1282526"/>
            <a:ext cx="11038323" cy="5575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chemeClr val="dk1"/>
                </a:solidFill>
                <a:latin typeface="Calibri"/>
                <a:ea typeface="Calibri"/>
                <a:cs typeface="Calibri"/>
                <a:sym typeface="Calibri"/>
              </a:rPr>
              <a:t>Architecture blueprint</a:t>
            </a:r>
            <a:endParaRPr b="0" i="0" sz="2400" u="none" cap="none" strike="noStrike">
              <a:solidFill>
                <a:srgbClr val="000000"/>
              </a:solidFill>
              <a:latin typeface="Arial"/>
              <a:ea typeface="Arial"/>
              <a:cs typeface="Arial"/>
              <a:sym typeface="Arial"/>
            </a:endParaRPr>
          </a:p>
        </p:txBody>
      </p:sp>
      <p:pic>
        <p:nvPicPr>
          <p:cNvPr id="129" name="Google Shape;129;p19"/>
          <p:cNvPicPr preferRelativeResize="0"/>
          <p:nvPr/>
        </p:nvPicPr>
        <p:blipFill rotWithShape="1">
          <a:blip r:embed="rId3">
            <a:alphaModFix/>
          </a:blip>
          <a:srcRect b="0" l="0" r="0" t="0"/>
          <a:stretch/>
        </p:blipFill>
        <p:spPr>
          <a:xfrm>
            <a:off x="487680" y="771747"/>
            <a:ext cx="11216640" cy="60417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20"/>
          <p:cNvPicPr preferRelativeResize="0"/>
          <p:nvPr/>
        </p:nvPicPr>
        <p:blipFill rotWithShape="1">
          <a:blip r:embed="rId3">
            <a:alphaModFix/>
          </a:blip>
          <a:srcRect b="0" l="0" r="0" t="0"/>
          <a:stretch/>
        </p:blipFill>
        <p:spPr>
          <a:xfrm>
            <a:off x="8371985" y="1167493"/>
            <a:ext cx="3015343" cy="4523014"/>
          </a:xfrm>
          <a:prstGeom prst="rect">
            <a:avLst/>
          </a:prstGeom>
          <a:noFill/>
          <a:ln>
            <a:noFill/>
          </a:ln>
        </p:spPr>
      </p:pic>
      <p:sp>
        <p:nvSpPr>
          <p:cNvPr id="135" name="Google Shape;135;p20"/>
          <p:cNvSpPr txBox="1"/>
          <p:nvPr/>
        </p:nvSpPr>
        <p:spPr>
          <a:xfrm>
            <a:off x="475488" y="283464"/>
            <a:ext cx="9317736"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Arial"/>
                <a:ea typeface="Arial"/>
                <a:cs typeface="Arial"/>
                <a:sym typeface="Arial"/>
              </a:rPr>
              <a:t>Role of Agentic AI in the solution </a:t>
            </a:r>
            <a:endParaRPr b="1" i="0" sz="3200" u="none" cap="none" strike="noStrike">
              <a:solidFill>
                <a:srgbClr val="000000"/>
              </a:solidFill>
              <a:latin typeface="Arial"/>
              <a:ea typeface="Arial"/>
              <a:cs typeface="Arial"/>
              <a:sym typeface="Arial"/>
            </a:endParaRPr>
          </a:p>
        </p:txBody>
      </p:sp>
      <p:sp>
        <p:nvSpPr>
          <p:cNvPr id="136" name="Google Shape;136;p20"/>
          <p:cNvSpPr txBox="1"/>
          <p:nvPr/>
        </p:nvSpPr>
        <p:spPr>
          <a:xfrm>
            <a:off x="621800" y="1167500"/>
            <a:ext cx="7750200" cy="411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a:t>Role of Agentic AI in Street Vendor Digitalization Agent</a:t>
            </a:r>
            <a:endParaRPr b="1"/>
          </a:p>
          <a:p>
            <a:pPr indent="0" lvl="0" marL="0" marR="0" rtl="0" algn="l">
              <a:lnSpc>
                <a:spcPct val="100000"/>
              </a:lnSpc>
              <a:spcBef>
                <a:spcPts val="0"/>
              </a:spcBef>
              <a:spcAft>
                <a:spcPts val="0"/>
              </a:spcAft>
              <a:buNone/>
            </a:pPr>
            <a:r>
              <a:rPr b="1" lang="en-US"/>
              <a:t>Agentic AI enables the Street Vendor Digitalization Agent to function as an intelligent, autonomous system rather than a simple chatbot. Using IBM watsonx.ai and IBM Granite models, it coordinates multiple specialized agents to deliver personalized digital business guidance.</a:t>
            </a:r>
            <a:endParaRPr b="1"/>
          </a:p>
          <a:p>
            <a:pPr indent="0" lvl="0" marL="0" marR="0" rtl="0" algn="l">
              <a:lnSpc>
                <a:spcPct val="100000"/>
              </a:lnSpc>
              <a:spcBef>
                <a:spcPts val="0"/>
              </a:spcBef>
              <a:spcAft>
                <a:spcPts val="0"/>
              </a:spcAft>
              <a:buNone/>
            </a:pPr>
            <a:r>
              <a:rPr b="1" lang="en-US"/>
              <a:t>Each agent performs a specific role—such as generating business profiles, retrieving government schemes, providing UPI setup guidance, and recommending local marketing strategies—while working collaboratively. This multi-agent approach ensures efficient task execution and accurate results.</a:t>
            </a:r>
            <a:endParaRPr b="1"/>
          </a:p>
          <a:p>
            <a:pPr indent="0" lvl="0" marL="0" marR="0" rtl="0" algn="l">
              <a:lnSpc>
                <a:spcPct val="100000"/>
              </a:lnSpc>
              <a:spcBef>
                <a:spcPts val="0"/>
              </a:spcBef>
              <a:spcAft>
                <a:spcPts val="0"/>
              </a:spcAft>
              <a:buNone/>
            </a:pPr>
            <a:r>
              <a:rPr b="1" lang="en-US"/>
              <a:t>Agentic AI also brings context awareness, understanding vendor details such as business type, products sold, location, and customer base to generate personalized recommendations. It supports real-time adaptation, continuously updating suggestions based on vendor inputs and the latest government policies.</a:t>
            </a:r>
            <a:endParaRPr b="1"/>
          </a:p>
          <a:p>
            <a:pPr indent="0" lvl="0" marL="0" marR="0" rtl="0" algn="l">
              <a:lnSpc>
                <a:spcPct val="100000"/>
              </a:lnSpc>
              <a:spcBef>
                <a:spcPts val="0"/>
              </a:spcBef>
              <a:spcAft>
                <a:spcPts val="0"/>
              </a:spcAft>
              <a:buNone/>
            </a:pPr>
            <a:r>
              <a:rPr b="1" lang="en-US"/>
              <a:t>Additionally, agents communicate with each other, enabling better decision-making and improved business outcomes.</a:t>
            </a:r>
            <a:endParaRPr b="1"/>
          </a:p>
          <a:p>
            <a:pPr indent="0" lvl="0" marL="0" marR="0" rtl="0" algn="l">
              <a:lnSpc>
                <a:spcPct val="100000"/>
              </a:lnSpc>
              <a:spcBef>
                <a:spcPts val="0"/>
              </a:spcBef>
              <a:spcAft>
                <a:spcPts val="0"/>
              </a:spcAft>
              <a:buNone/>
            </a:pPr>
            <a:r>
              <a:rPr b="1" lang="en-US"/>
              <a:t>Overall, Agentic AI makes the system proactive, personalized, and goal-driven, acting like a smart digital business assistant that helps street vendors establish a digital presence, access government benefits, attract more customers, and grow their businesses.</a:t>
            </a:r>
            <a:endParaRPr b="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1"/>
          <p:cNvSpPr/>
          <p:nvPr/>
        </p:nvSpPr>
        <p:spPr>
          <a:xfrm>
            <a:off x="793192" y="341560"/>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Token Usage </a:t>
            </a:r>
            <a:endParaRPr b="1" i="0" sz="2400" u="none" cap="none" strike="noStrike">
              <a:solidFill>
                <a:srgbClr val="000000"/>
              </a:solidFill>
              <a:latin typeface="Arial"/>
              <a:ea typeface="Arial"/>
              <a:cs typeface="Arial"/>
              <a:sym typeface="Arial"/>
            </a:endParaRPr>
          </a:p>
        </p:txBody>
      </p:sp>
      <p:sp>
        <p:nvSpPr>
          <p:cNvPr id="142" name="Google Shape;142;p21"/>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3" name="Google Shape;143;p21"/>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4" name="Google Shape;144;p21"/>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5" name="Google Shape;145;p21"/>
          <p:cNvSpPr txBox="1"/>
          <p:nvPr/>
        </p:nvSpPr>
        <p:spPr>
          <a:xfrm>
            <a:off x="897392" y="1042133"/>
            <a:ext cx="437117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11,761 token are used</a:t>
            </a:r>
            <a:endParaRPr/>
          </a:p>
        </p:txBody>
      </p:sp>
      <p:sp>
        <p:nvSpPr>
          <p:cNvPr id="146" name="Google Shape;146;p21"/>
          <p:cNvSpPr txBox="1"/>
          <p:nvPr/>
        </p:nvSpPr>
        <p:spPr>
          <a:xfrm>
            <a:off x="1278639" y="1718067"/>
            <a:ext cx="274319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sng" cap="none" strike="noStrike">
                <a:solidFill>
                  <a:srgbClr val="000000"/>
                </a:solidFill>
                <a:latin typeface="Arial"/>
                <a:ea typeface="Arial"/>
                <a:cs typeface="Arial"/>
                <a:sym typeface="Arial"/>
              </a:rPr>
              <a:t>Before Prompt</a:t>
            </a:r>
            <a:endParaRPr/>
          </a:p>
        </p:txBody>
      </p:sp>
      <p:sp>
        <p:nvSpPr>
          <p:cNvPr id="147" name="Google Shape;147;p21"/>
          <p:cNvSpPr txBox="1"/>
          <p:nvPr/>
        </p:nvSpPr>
        <p:spPr>
          <a:xfrm>
            <a:off x="7106828" y="1722919"/>
            <a:ext cx="274319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sng" cap="none" strike="noStrike">
                <a:solidFill>
                  <a:srgbClr val="000000"/>
                </a:solidFill>
                <a:latin typeface="Arial"/>
                <a:ea typeface="Arial"/>
                <a:cs typeface="Arial"/>
                <a:sym typeface="Arial"/>
              </a:rPr>
              <a:t>After the Prompt</a:t>
            </a:r>
            <a:endParaRPr/>
          </a:p>
        </p:txBody>
      </p:sp>
      <p:pic>
        <p:nvPicPr>
          <p:cNvPr id="148" name="Google Shape;148;p21"/>
          <p:cNvPicPr preferRelativeResize="0"/>
          <p:nvPr/>
        </p:nvPicPr>
        <p:blipFill rotWithShape="1">
          <a:blip r:embed="rId3">
            <a:alphaModFix/>
          </a:blip>
          <a:srcRect b="0" l="0" r="0" t="0"/>
          <a:stretch/>
        </p:blipFill>
        <p:spPr>
          <a:xfrm>
            <a:off x="6314599" y="2391113"/>
            <a:ext cx="5188316" cy="2919979"/>
          </a:xfrm>
          <a:prstGeom prst="rect">
            <a:avLst/>
          </a:prstGeom>
          <a:noFill/>
          <a:ln>
            <a:noFill/>
          </a:ln>
        </p:spPr>
      </p:pic>
      <p:pic>
        <p:nvPicPr>
          <p:cNvPr id="149" name="Google Shape;149;p21"/>
          <p:cNvPicPr preferRelativeResize="0"/>
          <p:nvPr/>
        </p:nvPicPr>
        <p:blipFill rotWithShape="1">
          <a:blip r:embed="rId4">
            <a:alphaModFix/>
          </a:blip>
          <a:srcRect b="0" l="0" r="0" t="12268"/>
          <a:stretch/>
        </p:blipFill>
        <p:spPr>
          <a:xfrm>
            <a:off x="361005" y="2387378"/>
            <a:ext cx="5734995" cy="290873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2"/>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Novelty and Uniqueness</a:t>
            </a:r>
            <a:endParaRPr b="1" i="0" sz="2400" u="none" cap="none" strike="noStrike">
              <a:solidFill>
                <a:srgbClr val="000000"/>
              </a:solidFill>
              <a:latin typeface="Arial"/>
              <a:ea typeface="Arial"/>
              <a:cs typeface="Arial"/>
              <a:sym typeface="Arial"/>
            </a:endParaRPr>
          </a:p>
        </p:txBody>
      </p:sp>
      <p:sp>
        <p:nvSpPr>
          <p:cNvPr id="155" name="Google Shape;155;p22"/>
          <p:cNvSpPr txBox="1"/>
          <p:nvPr/>
        </p:nvSpPr>
        <p:spPr>
          <a:xfrm>
            <a:off x="777250" y="946302"/>
            <a:ext cx="11301900" cy="504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sz="1800"/>
              <a:t>The proposed Street Vendor Digitalization Agent stands out by combining Agentic AI, RAG, and personalization into a single intelligent system.</a:t>
            </a:r>
            <a:endParaRPr sz="1800"/>
          </a:p>
          <a:p>
            <a:pPr indent="0" lvl="0" marL="0" marR="0" rtl="0" algn="l">
              <a:lnSpc>
                <a:spcPct val="100000"/>
              </a:lnSpc>
              <a:spcBef>
                <a:spcPts val="0"/>
              </a:spcBef>
              <a:spcAft>
                <a:spcPts val="0"/>
              </a:spcAft>
              <a:buNone/>
            </a:pPr>
            <a:r>
              <a:rPr lang="en-US" sz="1800"/>
              <a:t>Multi-Agent Intelligence – Instead of a single chatbot, multiple specialized agents collaborate to deliver accurate and context-aware digital business guidance.</a:t>
            </a:r>
            <a:endParaRPr sz="1800"/>
          </a:p>
          <a:p>
            <a:pPr indent="0" lvl="0" marL="0" marR="0" rtl="0" algn="l">
              <a:lnSpc>
                <a:spcPct val="100000"/>
              </a:lnSpc>
              <a:spcBef>
                <a:spcPts val="0"/>
              </a:spcBef>
              <a:spcAft>
                <a:spcPts val="0"/>
              </a:spcAft>
              <a:buNone/>
            </a:pPr>
            <a:r>
              <a:rPr lang="en-US" sz="1800"/>
              <a:t>RAG-Based Accuracy – Integrates real-time information retrieval from government portals, MSME schemes, UPI guidelines, and commerce platforms with AI generation, ensuring trustworthy and up-to-date recommendations.</a:t>
            </a:r>
            <a:endParaRPr sz="1800"/>
          </a:p>
          <a:p>
            <a:pPr indent="0" lvl="0" marL="0" marR="0" rtl="0" algn="l">
              <a:lnSpc>
                <a:spcPct val="100000"/>
              </a:lnSpc>
              <a:spcBef>
                <a:spcPts val="0"/>
              </a:spcBef>
              <a:spcAft>
                <a:spcPts val="0"/>
              </a:spcAft>
              <a:buNone/>
            </a:pPr>
            <a:r>
              <a:rPr lang="en-US" sz="1800"/>
              <a:t>Hyper-Personalization – Tailors business profiles, marketing strategies, and digital onboarding recommendations based on the vendor's business type, products, and location.</a:t>
            </a:r>
            <a:endParaRPr sz="1800"/>
          </a:p>
          <a:p>
            <a:pPr indent="0" lvl="0" marL="0" marR="0" rtl="0" algn="l">
              <a:lnSpc>
                <a:spcPct val="100000"/>
              </a:lnSpc>
              <a:spcBef>
                <a:spcPts val="0"/>
              </a:spcBef>
              <a:spcAft>
                <a:spcPts val="0"/>
              </a:spcAft>
              <a:buNone/>
            </a:pPr>
            <a:r>
              <a:rPr lang="en-US" sz="1800"/>
              <a:t>Real-Time Assistance – Continuously adapts recommendations based on vendor queries, business updates, and the latest government policies.</a:t>
            </a:r>
            <a:endParaRPr sz="1800"/>
          </a:p>
          <a:p>
            <a:pPr indent="0" lvl="0" marL="0" marR="0" rtl="0" algn="l">
              <a:lnSpc>
                <a:spcPct val="100000"/>
              </a:lnSpc>
              <a:spcBef>
                <a:spcPts val="0"/>
              </a:spcBef>
              <a:spcAft>
                <a:spcPts val="0"/>
              </a:spcAft>
              <a:buNone/>
            </a:pPr>
            <a:r>
              <a:rPr lang="en-US" sz="1800"/>
              <a:t>Multi-Modal Input – Supports text, voice, and image-based interactions, making the solution easy to use for vendors with different levels of digital literacy.</a:t>
            </a:r>
            <a:endParaRPr sz="1800"/>
          </a:p>
          <a:p>
            <a:pPr indent="0" lvl="0" marL="0" marR="0" rtl="0" algn="l">
              <a:lnSpc>
                <a:spcPct val="100000"/>
              </a:lnSpc>
              <a:spcBef>
                <a:spcPts val="0"/>
              </a:spcBef>
              <a:spcAft>
                <a:spcPts val="0"/>
              </a:spcAft>
              <a:buNone/>
            </a:pPr>
            <a:r>
              <a:rPr lang="en-US" sz="1800"/>
              <a:t>Business Growth Focus – Goes beyond digital onboarding by providing government scheme guidance, digital payment setup, local SEO strategies, and customer engagement recommendations.</a:t>
            </a:r>
            <a:endParaRPr sz="1800"/>
          </a:p>
          <a:p>
            <a:pPr indent="0" lvl="0" marL="0" marR="0" rtl="0" algn="l">
              <a:lnSpc>
                <a:spcPct val="100000"/>
              </a:lnSpc>
              <a:spcBef>
                <a:spcPts val="0"/>
              </a:spcBef>
              <a:spcAft>
                <a:spcPts val="0"/>
              </a:spcAft>
              <a:buNone/>
            </a:pPr>
            <a:r>
              <a:rPr lang="en-US" sz="1800"/>
              <a:t>Scalable &amp; Enterprise-Ready – Built on IBM watsonx.ai, IBM Granite models, and IBM Cloud, ensuring reliability, scalability, and AI governance.</a:t>
            </a:r>
            <a:r>
              <a:rPr b="0" i="0" lang="en-US" sz="1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t/>
            </a:r>
            <a:endParaRPr/>
          </a:p>
        </p:txBody>
      </p:sp>
      <p:sp>
        <p:nvSpPr>
          <p:cNvPr id="161" name="Google Shape;161;p2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1000"/>
              </a:spcBef>
              <a:spcAft>
                <a:spcPts val="0"/>
              </a:spcAft>
              <a:buClr>
                <a:srgbClr val="888888"/>
              </a:buClr>
              <a:buSzPts val="24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t/>
            </a:r>
            <a:endParaRPr/>
          </a:p>
        </p:txBody>
      </p:sp>
      <p:sp>
        <p:nvSpPr>
          <p:cNvPr id="167" name="Google Shape;167;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1000"/>
              </a:spcBef>
              <a:spcAft>
                <a:spcPts val="0"/>
              </a:spcAft>
              <a:buClr>
                <a:srgbClr val="888888"/>
              </a:buClr>
              <a:buSzPts val="24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t/>
            </a:r>
            <a:endParaRPr/>
          </a:p>
        </p:txBody>
      </p:sp>
      <p:sp>
        <p:nvSpPr>
          <p:cNvPr id="173" name="Google Shape;173;p2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1000"/>
              </a:spcBef>
              <a:spcAft>
                <a:spcPts val="0"/>
              </a:spcAft>
              <a:buClr>
                <a:srgbClr val="888888"/>
              </a:buClr>
              <a:buSzPts val="24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t/>
            </a:r>
            <a:endParaRPr/>
          </a:p>
        </p:txBody>
      </p:sp>
      <p:sp>
        <p:nvSpPr>
          <p:cNvPr id="179" name="Google Shape;179;p2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1000"/>
              </a:spcBef>
              <a:spcAft>
                <a:spcPts val="0"/>
              </a:spcAft>
              <a:buClr>
                <a:srgbClr val="888888"/>
              </a:buClr>
              <a:buSzPts val="24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t/>
            </a:r>
            <a:endParaRPr/>
          </a:p>
        </p:txBody>
      </p:sp>
      <p:sp>
        <p:nvSpPr>
          <p:cNvPr id="185" name="Google Shape;185;p2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1000"/>
              </a:spcBef>
              <a:spcAft>
                <a:spcPts val="0"/>
              </a:spcAft>
              <a:buClr>
                <a:srgbClr val="888888"/>
              </a:buClr>
              <a:buSzPts val="24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8"/>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Git Hub Link</a:t>
            </a:r>
            <a:endParaRPr b="1" i="0" sz="2400" u="none" cap="none" strike="noStrike">
              <a:solidFill>
                <a:srgbClr val="000000"/>
              </a:solidFill>
              <a:latin typeface="Arial"/>
              <a:ea typeface="Arial"/>
              <a:cs typeface="Arial"/>
              <a:sym typeface="Arial"/>
            </a:endParaRPr>
          </a:p>
        </p:txBody>
      </p:sp>
      <p:sp>
        <p:nvSpPr>
          <p:cNvPr id="191" name="Google Shape;191;p28"/>
          <p:cNvSpPr/>
          <p:nvPr/>
        </p:nvSpPr>
        <p:spPr>
          <a:xfrm>
            <a:off x="1218724" y="1153712"/>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 Please create public github repository (Enable Add README  button while creating repository) with format – </a:t>
            </a:r>
            <a:endParaRPr/>
          </a:p>
          <a:p>
            <a:pPr indent="0" lvl="0" marL="0" marR="0" rtl="0" algn="l">
              <a:lnSpc>
                <a:spcPct val="162162"/>
              </a:lnSpc>
              <a:spcBef>
                <a:spcPts val="0"/>
              </a:spcBef>
              <a:spcAft>
                <a:spcPts val="0"/>
              </a:spcAft>
              <a:buNone/>
            </a:pPr>
            <a:r>
              <a:rPr b="0" i="0" lang="en-US" sz="1850" u="none" cap="none" strike="noStrike">
                <a:solidFill>
                  <a:srgbClr val="2B3541"/>
                </a:solidFill>
                <a:latin typeface="Times New Roman"/>
                <a:ea typeface="Times New Roman"/>
                <a:cs typeface="Times New Roman"/>
                <a:sym typeface="Times New Roman"/>
              </a:rPr>
              <a:t>Please test and Paste the working  Github URL –</a:t>
            </a:r>
            <a:endParaRPr/>
          </a:p>
          <a:p>
            <a:pPr indent="0" lvl="0" marL="0" marR="0" rtl="0" algn="l">
              <a:lnSpc>
                <a:spcPct val="162162"/>
              </a:lnSpc>
              <a:spcBef>
                <a:spcPts val="0"/>
              </a:spcBef>
              <a:spcAft>
                <a:spcPts val="0"/>
              </a:spcAft>
              <a:buNone/>
            </a:pPr>
            <a:r>
              <a:t/>
            </a:r>
            <a:endParaRPr/>
          </a:p>
          <a:p>
            <a:pPr indent="0" lvl="0" marL="0" marR="0" rtl="0" algn="l">
              <a:lnSpc>
                <a:spcPct val="162162"/>
              </a:lnSpc>
              <a:spcBef>
                <a:spcPts val="0"/>
              </a:spcBef>
              <a:spcAft>
                <a:spcPts val="0"/>
              </a:spcAft>
              <a:buNone/>
            </a:pPr>
            <a:r>
              <a:t/>
            </a:r>
            <a:endParaRPr b="0" i="0" sz="1850" u="none" cap="none" strike="noStrike">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None/>
            </a:pPr>
            <a:r>
              <a:rPr b="1" i="0" lang="en-US" sz="1850" u="none" cap="none" strike="noStrike">
                <a:solidFill>
                  <a:srgbClr val="2B3541"/>
                </a:solidFill>
                <a:latin typeface="Times New Roman"/>
                <a:ea typeface="Times New Roman"/>
                <a:cs typeface="Times New Roman"/>
                <a:sym typeface="Times New Roman"/>
              </a:rPr>
              <a:t>Make sure you have Uploaded following three files into your github repository  </a:t>
            </a:r>
            <a:br>
              <a:rPr b="0" i="0" lang="en-US" sz="1850" u="none" cap="none" strike="noStrike">
                <a:solidFill>
                  <a:srgbClr val="2B3541"/>
                </a:solidFill>
                <a:latin typeface="Times New Roman"/>
                <a:ea typeface="Times New Roman"/>
                <a:cs typeface="Times New Roman"/>
                <a:sym typeface="Times New Roman"/>
              </a:rPr>
            </a:br>
            <a:r>
              <a:rPr b="0" i="0" lang="en-US" sz="1850" u="none" cap="none" strike="noStrike">
                <a:solidFill>
                  <a:srgbClr val="2B3541"/>
                </a:solidFill>
                <a:latin typeface="Times New Roman"/>
                <a:ea typeface="Times New Roman"/>
                <a:cs typeface="Times New Roman"/>
                <a:sym typeface="Times New Roman"/>
              </a:rPr>
              <a:t>1) app.json file , 2) yourproblemstatement.pdf file  3) your projectpresntation.pptx file 4)any other files </a:t>
            </a:r>
            <a:endParaRPr/>
          </a:p>
          <a:p>
            <a:pPr indent="0" lvl="0" marL="0" marR="0" rtl="0" algn="l">
              <a:lnSpc>
                <a:spcPct val="162162"/>
              </a:lnSpc>
              <a:spcBef>
                <a:spcPts val="0"/>
              </a:spcBef>
              <a:spcAft>
                <a:spcPts val="0"/>
              </a:spcAft>
              <a:buClr>
                <a:srgbClr val="2B3541"/>
              </a:buClr>
              <a:buSzPts val="1850"/>
              <a:buFont typeface="Times New Roman"/>
              <a:buNone/>
            </a:pPr>
            <a:r>
              <a:t/>
            </a:r>
            <a:endParaRPr b="0" i="0" sz="1850" u="none" cap="none" strike="noStrike">
              <a:solidFill>
                <a:srgbClr val="000000"/>
              </a:solidFill>
              <a:latin typeface="Times New Roman"/>
              <a:ea typeface="Times New Roman"/>
              <a:cs typeface="Times New Roman"/>
              <a:sym typeface="Times New Roman"/>
            </a:endParaRPr>
          </a:p>
        </p:txBody>
      </p:sp>
      <p:sp>
        <p:nvSpPr>
          <p:cNvPr id="192" name="Google Shape;192;p28"/>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93" name="Google Shape;193;p28"/>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94" name="Google Shape;194;p28"/>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9"/>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Future Scope </a:t>
            </a:r>
            <a:endParaRPr b="1" i="0" sz="2400" u="none" cap="none" strike="noStrike">
              <a:solidFill>
                <a:srgbClr val="000000"/>
              </a:solidFill>
              <a:latin typeface="Arial"/>
              <a:ea typeface="Arial"/>
              <a:cs typeface="Arial"/>
              <a:sym typeface="Arial"/>
            </a:endParaRPr>
          </a:p>
        </p:txBody>
      </p:sp>
      <p:sp>
        <p:nvSpPr>
          <p:cNvPr id="200" name="Google Shape;200;p29"/>
          <p:cNvSpPr/>
          <p:nvPr/>
        </p:nvSpPr>
        <p:spPr>
          <a:xfrm>
            <a:off x="1218725" y="1560725"/>
            <a:ext cx="8886000" cy="479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400"/>
              <a:t>1. AI-Powered Voice Assistant &amp; Multilingual Support –</a:t>
            </a:r>
            <a:endParaRPr sz="2400"/>
          </a:p>
          <a:p>
            <a:pPr indent="0" lvl="0" marL="0" rtl="0" algn="l">
              <a:spcBef>
                <a:spcPts val="0"/>
              </a:spcBef>
              <a:spcAft>
                <a:spcPts val="0"/>
              </a:spcAft>
              <a:buNone/>
            </a:pPr>
            <a:r>
              <a:rPr lang="en-US" sz="2400"/>
              <a:t>The system can be enhanced with a voice-enabled assistant and support for multiple regional languages, allowing street vendors to interact naturally in their preferred language. This will improve accessibility and make the solution more inclusive for vendors with varying levels of digital literacy.</a:t>
            </a:r>
            <a:endParaRPr sz="2400"/>
          </a:p>
          <a:p>
            <a:pPr indent="0" lvl="0" marL="0" rtl="0" algn="l">
              <a:spcBef>
                <a:spcPts val="0"/>
              </a:spcBef>
              <a:spcAft>
                <a:spcPts val="0"/>
              </a:spcAft>
              <a:buNone/>
            </a:pPr>
            <a:r>
              <a:rPr lang="en-US" sz="2400"/>
              <a:t>2. Integration with Digital Commerce &amp; Financial Services –</a:t>
            </a:r>
            <a:endParaRPr sz="2400"/>
          </a:p>
          <a:p>
            <a:pPr indent="0" lvl="0" marL="0" rtl="0" algn="l">
              <a:spcBef>
                <a:spcPts val="0"/>
              </a:spcBef>
              <a:spcAft>
                <a:spcPts val="0"/>
              </a:spcAft>
              <a:buNone/>
            </a:pPr>
            <a:r>
              <a:rPr lang="en-US" sz="2400"/>
              <a:t>The system can be integrated with digital payment platforms, e-commerce marketplaces, and government portals to provide real-time updates on MSME schemes, business registrations, UPI services, and financial assistance. This will help vendors expand their digital presence, improve customer reach, and access business growth opportunities more effectively.</a:t>
            </a:r>
            <a:endParaRPr sz="2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0"/>
          <p:cNvSpPr txBox="1"/>
          <p:nvPr/>
        </p:nvSpPr>
        <p:spPr>
          <a:xfrm>
            <a:off x="327949" y="207380"/>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6" name="Google Shape;206;p30"/>
          <p:cNvSpPr txBox="1"/>
          <p:nvPr/>
        </p:nvSpPr>
        <p:spPr>
          <a:xfrm>
            <a:off x="552048" y="690061"/>
            <a:ext cx="638996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Please  add your credly certificate </a:t>
            </a:r>
            <a:endParaRPr/>
          </a:p>
        </p:txBody>
      </p:sp>
      <p:pic>
        <p:nvPicPr>
          <p:cNvPr id="207" name="Google Shape;207;p30"/>
          <p:cNvPicPr preferRelativeResize="0"/>
          <p:nvPr/>
        </p:nvPicPr>
        <p:blipFill rotWithShape="1">
          <a:blip r:embed="rId3">
            <a:alphaModFix/>
          </a:blip>
          <a:srcRect b="3633" l="4861" r="5282" t="4161"/>
          <a:stretch/>
        </p:blipFill>
        <p:spPr>
          <a:xfrm>
            <a:off x="1537437" y="1367169"/>
            <a:ext cx="7711440" cy="541471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1"/>
          <p:cNvSpPr txBox="1"/>
          <p:nvPr/>
        </p:nvSpPr>
        <p:spPr>
          <a:xfrm>
            <a:off x="176696" y="226391"/>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r>
              <a:rPr b="0" i="0" lang="en-US" sz="2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3" name="Google Shape;213;p31"/>
          <p:cNvSpPr txBox="1"/>
          <p:nvPr/>
        </p:nvSpPr>
        <p:spPr>
          <a:xfrm>
            <a:off x="496843" y="800470"/>
            <a:ext cx="543768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Add your IBM BOB Certificate</a:t>
            </a:r>
            <a:endParaRPr/>
          </a:p>
        </p:txBody>
      </p:sp>
      <p:pic>
        <p:nvPicPr>
          <p:cNvPr id="214" name="Google Shape;214;p31"/>
          <p:cNvPicPr preferRelativeResize="0"/>
          <p:nvPr/>
        </p:nvPicPr>
        <p:blipFill rotWithShape="1">
          <a:blip r:embed="rId3">
            <a:alphaModFix/>
          </a:blip>
          <a:srcRect b="0" l="0" r="0" t="0"/>
          <a:stretch/>
        </p:blipFill>
        <p:spPr>
          <a:xfrm>
            <a:off x="2556386" y="1253445"/>
            <a:ext cx="8592111" cy="528097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p32"/>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
        <p:nvSpPr>
          <p:cNvPr id="220" name="Google Shape;220;p32"/>
          <p:cNvSpPr txBox="1"/>
          <p:nvPr/>
        </p:nvSpPr>
        <p:spPr>
          <a:xfrm>
            <a:off x="8514735" y="5627912"/>
            <a:ext cx="60960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r>
              <a:rPr b="0" i="0" lang="en-US" sz="1400" u="sng" cap="none" strike="noStrike">
                <a:solidFill>
                  <a:srgbClr val="000000"/>
                </a:solidFill>
                <a:latin typeface="Arial"/>
                <a:ea typeface="Arial"/>
                <a:cs typeface="Arial"/>
                <a:sym typeface="Arial"/>
                <a:hlinkClick r:id="rId4">
                  <a:extLst>
                    <a:ext uri="{A12FA001-AC4F-418D-AE19-62706E023703}">
                      <ahyp:hlinkClr val="tx"/>
                    </a:ext>
                  </a:extLst>
                </a:hlinkClick>
              </a:rPr>
              <a:t>EFIBM26263550864@edunetmail.com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Edu#863082</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