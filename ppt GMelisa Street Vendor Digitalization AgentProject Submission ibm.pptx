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82" r:id="rId13"/>
    <p:sldId id="267" r:id="rId14"/>
    <p:sldId id="280" r:id="rId15"/>
    <p:sldId id="281" r:id="rId16"/>
    <p:sldId id="278" r:id="rId17"/>
    <p:sldId id="277" r:id="rId18"/>
    <p:sldId id="279" r:id="rId19"/>
    <p:sldId id="269" r:id="rId20"/>
    <p:sldId id="270" r:id="rId21"/>
    <p:sldId id="271" r:id="rId22"/>
    <p:sldId id="268" r:id="rId23"/>
    <p:sldId id="272" r:id="rId24"/>
    <p:sldId id="273" r:id="rId25"/>
    <p:sldId id="274" r:id="rId26"/>
    <p:sldId id="275" r:id="rId27"/>
    <p:sldId id="276" r:id="rId2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0AB8BA-0535-40CE-B8CD-72352E2DCD05}" v="1" dt="2026-07-10T14:25:57.893"/>
  </p1510:revLst>
</p1510:revInfo>
</file>

<file path=ppt/tableStyles.xml><?xml version="1.0" encoding="utf-8"?>
<a:tblStyleLst xmlns:a="http://schemas.openxmlformats.org/drawingml/2006/main" def="{FD30066D-C635-4F94-9B01-0E0564CF8045}">
  <a:tblStyle styleId="{FD30066D-C635-4F94-9B01-0E0564CF8045}"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 name="Google Shape;76;p3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2" name="Google Shape;92;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7" name="Google Shape;97;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3" name="Google Shape;103;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0" name="Google Shape;120;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6" name="Google Shape;126;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2" name="Google Shape;132;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9" name="Google Shape;139;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2" name="Google Shape;152;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0" name="Google Shape;170;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p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6" name="Google Shape;176;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2" name="Google Shape;182;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4" name="Google Shape;164;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p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8" name="Google Shape;188;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4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p4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0" name="Google Shape;210;p4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17" name="Google Shape;217;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14" name="Google Shape;14;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4"/>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5"/>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3" name="Google Shape;33;p5"/>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5"/>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5" name="Google Shape;35;p5"/>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8"/>
        <p:cNvGrpSpPr/>
        <p:nvPr/>
      </p:nvGrpSpPr>
      <p:grpSpPr>
        <a:xfrm>
          <a:off x="0" y="0"/>
          <a:ext cx="0" cy="0"/>
          <a:chOff x="0" y="0"/>
          <a:chExt cx="0" cy="0"/>
        </a:xfrm>
      </p:grpSpPr>
      <p:sp>
        <p:nvSpPr>
          <p:cNvPr id="49" name="Google Shape;49;p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1" name="Google Shape;51;p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2" name="Google Shape;52;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9"/>
          <p:cNvSpPr>
            <a:spLocks noGrp="1"/>
          </p:cNvSpPr>
          <p:nvPr>
            <p:ph type="pic" idx="2"/>
          </p:nvPr>
        </p:nvSpPr>
        <p:spPr>
          <a:xfrm>
            <a:off x="5183188" y="987425"/>
            <a:ext cx="6172200" cy="4873625"/>
          </a:xfrm>
          <a:prstGeom prst="rect">
            <a:avLst/>
          </a:prstGeom>
          <a:noFill/>
          <a:ln>
            <a:noFill/>
          </a:ln>
        </p:spPr>
      </p:sp>
      <p:sp>
        <p:nvSpPr>
          <p:cNvPr id="58" name="Google Shape;58;p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9" name="Google Shape;59;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2"/>
        <p:cNvGrpSpPr/>
        <p:nvPr/>
      </p:nvGrpSpPr>
      <p:grpSpPr>
        <a:xfrm>
          <a:off x="0" y="0"/>
          <a:ext cx="0" cy="0"/>
          <a:chOff x="0" y="0"/>
          <a:chExt cx="0" cy="0"/>
        </a:xfrm>
      </p:grpSpPr>
      <p:sp>
        <p:nvSpPr>
          <p:cNvPr id="63" name="Google Shape;63;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Melisa-Gompana/Street-Vendor-Digitalization-Agent-finalibmproject.git"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hyperlink" Target="mailto:EFIBM26263550864@edunetmail.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2"/>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SzPts val="6000"/>
              <a:buNone/>
            </a:pPr>
            <a:r>
              <a:rPr lang="en-US" sz="6600" b="1"/>
              <a:t>IBM University Engagement Project Submission</a:t>
            </a:r>
            <a:br>
              <a:rPr lang="en-US" b="1"/>
            </a:br>
            <a:endParaRPr/>
          </a:p>
        </p:txBody>
      </p:sp>
      <p:sp>
        <p:nvSpPr>
          <p:cNvPr id="79" name="Google Shape;79;p12"/>
          <p:cNvSpPr txBox="1">
            <a:spLocks noGrp="1"/>
          </p:cNvSpPr>
          <p:nvPr>
            <p:ph type="body" idx="1"/>
          </p:nvPr>
        </p:nvSpPr>
        <p:spPr>
          <a:xfrm>
            <a:off x="1014730" y="3903663"/>
            <a:ext cx="10515600" cy="1500187"/>
          </a:xfrm>
          <a:prstGeom prst="rect">
            <a:avLst/>
          </a:prstGeom>
          <a:noFill/>
          <a:ln>
            <a:noFill/>
          </a:ln>
        </p:spPr>
        <p:txBody>
          <a:bodyPr spcFirstLastPara="1" wrap="square" lIns="91425" tIns="45700" rIns="91425" bIns="45700" anchor="t" anchorCtr="0">
            <a:normAutofit/>
          </a:bodyPr>
          <a:lstStyle/>
          <a:p>
            <a:pPr marL="457200" lvl="0" indent="-228600" algn="ctr" rtl="0">
              <a:lnSpc>
                <a:spcPct val="90000"/>
              </a:lnSpc>
              <a:spcBef>
                <a:spcPts val="1000"/>
              </a:spcBef>
              <a:spcAft>
                <a:spcPts val="0"/>
              </a:spcAft>
              <a:buSzPts val="2400"/>
              <a:buNone/>
            </a:pPr>
            <a:r>
              <a:rPr lang="en-US" b="1" i="1"/>
              <a:t>“Exploring the Power of Agentic AI with IBM Granite and LangFlow”</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85" name="Google Shape;85;p13"/>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sp>
        <p:nvSpPr>
          <p:cNvPr id="86" name="Google Shape;86;p13"/>
          <p:cNvSpPr txBox="1"/>
          <p:nvPr/>
        </p:nvSpPr>
        <p:spPr>
          <a:xfrm>
            <a:off x="1206164" y="1460724"/>
            <a:ext cx="10280400" cy="11889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i="0" u="none" strike="noStrike" cap="none">
                <a:solidFill>
                  <a:srgbClr val="000000"/>
                </a:solidFill>
                <a:highlight>
                  <a:srgbClr val="FFFF00"/>
                </a:highlight>
              </a:rPr>
              <a:t>Domain of  Project –  </a:t>
            </a:r>
            <a:r>
              <a:rPr lang="en-US" sz="2400">
                <a:highlight>
                  <a:srgbClr val="FFFF00"/>
                </a:highlight>
              </a:rPr>
              <a:t>Digital Commerce &amp; MSME Empowerment</a:t>
            </a:r>
            <a:endParaRPr/>
          </a:p>
          <a:p>
            <a:pPr marL="0" marR="0" lvl="0" indent="0" algn="l" rtl="0">
              <a:lnSpc>
                <a:spcPct val="100000"/>
              </a:lnSpc>
              <a:spcBef>
                <a:spcPts val="0"/>
              </a:spcBef>
              <a:spcAft>
                <a:spcPts val="0"/>
              </a:spcAft>
              <a:buNone/>
            </a:pPr>
            <a:endParaRPr sz="2400" i="0" u="none" strike="noStrike" cap="none">
              <a:solidFill>
                <a:srgbClr val="000000"/>
              </a:solidFill>
              <a:highlight>
                <a:srgbClr val="FFFF00"/>
              </a:highlight>
            </a:endParaRPr>
          </a:p>
          <a:p>
            <a:pPr marL="0" marR="0" lvl="0" indent="0" algn="l" rtl="0">
              <a:lnSpc>
                <a:spcPct val="100000"/>
              </a:lnSpc>
              <a:spcBef>
                <a:spcPts val="0"/>
              </a:spcBef>
              <a:spcAft>
                <a:spcPts val="0"/>
              </a:spcAft>
              <a:buNone/>
            </a:pPr>
            <a:endParaRPr sz="2400" i="0" u="none" strike="noStrike" cap="none">
              <a:solidFill>
                <a:srgbClr val="000000"/>
              </a:solidFill>
              <a:highlight>
                <a:srgbClr val="FFFF00"/>
              </a:highlight>
            </a:endParaRPr>
          </a:p>
        </p:txBody>
      </p:sp>
      <p:sp>
        <p:nvSpPr>
          <p:cNvPr id="87" name="Google Shape;87;p13"/>
          <p:cNvSpPr txBox="1"/>
          <p:nvPr/>
        </p:nvSpPr>
        <p:spPr>
          <a:xfrm>
            <a:off x="1206162" y="551965"/>
            <a:ext cx="9581100" cy="8235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highlight>
                  <a:srgbClr val="FFFF00"/>
                </a:highlight>
                <a:latin typeface="Arial"/>
                <a:ea typeface="Arial"/>
                <a:cs typeface="Arial"/>
                <a:sym typeface="Arial"/>
              </a:rPr>
              <a:t>Project Tile –</a:t>
            </a:r>
            <a:r>
              <a:rPr lang="en-US" sz="2400" b="1">
                <a:highlight>
                  <a:srgbClr val="FFFF00"/>
                </a:highlight>
              </a:rPr>
              <a:t> Street Vendor Digitalization Agent</a:t>
            </a:r>
            <a:endParaRPr sz="2400" b="1" i="0" u="none" strike="noStrike" cap="none">
              <a:solidFill>
                <a:srgbClr val="000000"/>
              </a:solidFill>
              <a:highlight>
                <a:srgbClr val="FFFF00"/>
              </a:highlight>
              <a:latin typeface="Arial"/>
              <a:ea typeface="Arial"/>
              <a:cs typeface="Arial"/>
              <a:sym typeface="Arial"/>
            </a:endParaRPr>
          </a:p>
          <a:p>
            <a:pPr marL="0" marR="0" lvl="0" indent="0" algn="l" rtl="0">
              <a:lnSpc>
                <a:spcPct val="100000"/>
              </a:lnSpc>
              <a:spcBef>
                <a:spcPts val="0"/>
              </a:spcBef>
              <a:spcAft>
                <a:spcPts val="0"/>
              </a:spcAft>
              <a:buNone/>
            </a:pPr>
            <a:endParaRPr sz="2400" b="1" i="0" u="none" strike="noStrike" cap="none">
              <a:solidFill>
                <a:srgbClr val="000000"/>
              </a:solidFill>
              <a:highlight>
                <a:srgbClr val="FFFF00"/>
              </a:highlight>
              <a:latin typeface="Arial"/>
              <a:ea typeface="Arial"/>
              <a:cs typeface="Arial"/>
              <a:sym typeface="Arial"/>
            </a:endParaRPr>
          </a:p>
        </p:txBody>
      </p:sp>
      <p:graphicFrame>
        <p:nvGraphicFramePr>
          <p:cNvPr id="88" name="Google Shape;88;p13"/>
          <p:cNvGraphicFramePr/>
          <p:nvPr/>
        </p:nvGraphicFramePr>
        <p:xfrm>
          <a:off x="838200" y="2812025"/>
          <a:ext cx="9130100" cy="2271250"/>
        </p:xfrm>
        <a:graphic>
          <a:graphicData uri="http://schemas.openxmlformats.org/drawingml/2006/table">
            <a:tbl>
              <a:tblPr>
                <a:noFill/>
                <a:tableStyleId>{FD30066D-C635-4F94-9B01-0E0564CF8045}</a:tableStyleId>
              </a:tblPr>
              <a:tblGrid>
                <a:gridCol w="1781600">
                  <a:extLst>
                    <a:ext uri="{9D8B030D-6E8A-4147-A177-3AD203B41FA5}">
                      <a16:colId xmlns:a16="http://schemas.microsoft.com/office/drawing/2014/main" val="20000"/>
                    </a:ext>
                  </a:extLst>
                </a:gridCol>
                <a:gridCol w="2449500">
                  <a:extLst>
                    <a:ext uri="{9D8B030D-6E8A-4147-A177-3AD203B41FA5}">
                      <a16:colId xmlns:a16="http://schemas.microsoft.com/office/drawing/2014/main" val="20001"/>
                    </a:ext>
                  </a:extLst>
                </a:gridCol>
                <a:gridCol w="2449500">
                  <a:extLst>
                    <a:ext uri="{9D8B030D-6E8A-4147-A177-3AD203B41FA5}">
                      <a16:colId xmlns:a16="http://schemas.microsoft.com/office/drawing/2014/main" val="20002"/>
                    </a:ext>
                  </a:extLst>
                </a:gridCol>
                <a:gridCol w="2449500">
                  <a:extLst>
                    <a:ext uri="{9D8B030D-6E8A-4147-A177-3AD203B41FA5}">
                      <a16:colId xmlns:a16="http://schemas.microsoft.com/office/drawing/2014/main" val="20003"/>
                    </a:ext>
                  </a:extLst>
                </a:gridCol>
              </a:tblGrid>
              <a:tr h="1020000">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Recent Passport Photo</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Email ID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Mobile number</a:t>
                      </a:r>
                      <a:endParaRPr sz="18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[WhatsApp]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251250">
                <a:tc>
                  <a:txBody>
                    <a:bodyPr/>
                    <a:lstStyle/>
                    <a:p>
                      <a:pPr marL="0" marR="0" lvl="0" indent="0" algn="l" rtl="0">
                        <a:lnSpc>
                          <a:spcPct val="100000"/>
                        </a:lnSpc>
                        <a:spcBef>
                          <a:spcPts val="0"/>
                        </a:spcBef>
                        <a:spcAft>
                          <a:spcPts val="0"/>
                        </a:spcAft>
                        <a:buClr>
                          <a:srgbClr val="000000"/>
                        </a:buClr>
                        <a:buSzPts val="2400"/>
                        <a:buFont typeface="Arial"/>
                        <a:buNone/>
                      </a:pPr>
                      <a:r>
                        <a:rPr lang="en-US" sz="2400" u="none" strike="noStrike" cap="none"/>
                        <a:t>Gompana</a:t>
                      </a:r>
                      <a:endParaRPr sz="2400" u="none" strike="noStrike" cap="none"/>
                    </a:p>
                    <a:p>
                      <a:pPr marL="0" marR="0" lvl="0" indent="0" algn="l" rtl="0">
                        <a:lnSpc>
                          <a:spcPct val="100000"/>
                        </a:lnSpc>
                        <a:spcBef>
                          <a:spcPts val="0"/>
                        </a:spcBef>
                        <a:spcAft>
                          <a:spcPts val="0"/>
                        </a:spcAft>
                        <a:buClr>
                          <a:srgbClr val="000000"/>
                        </a:buClr>
                        <a:buSzPts val="2400"/>
                        <a:buFont typeface="Arial"/>
                        <a:buNone/>
                      </a:pPr>
                      <a:r>
                        <a:rPr lang="en-US" sz="2400" u="none" strike="noStrike" cap="none"/>
                        <a:t>Melisa</a:t>
                      </a:r>
                      <a:endParaRPr sz="2400" u="none" strike="noStrike" cap="none"/>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2400"/>
                        <a:buFont typeface="Arial"/>
                        <a:buNone/>
                      </a:pPr>
                      <a:r>
                        <a:rPr lang="en-US" sz="2400" u="none" strike="noStrike" cap="none"/>
                        <a:t>melisagompana@gmail.com</a:t>
                      </a:r>
                      <a:endParaRPr sz="2400" u="none" strike="noStrike" cap="none"/>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2400"/>
                        <a:buFont typeface="Arial"/>
                        <a:buNone/>
                      </a:pPr>
                      <a:r>
                        <a:rPr lang="en-US" sz="2400" u="none" strike="noStrike" cap="none"/>
                        <a:t>7287005337</a:t>
                      </a:r>
                      <a:endParaRPr sz="2400" u="none" strike="noStrike" cap="none"/>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89" name="Google Shape;89;p13"/>
          <p:cNvPicPr preferRelativeResize="0"/>
          <p:nvPr/>
        </p:nvPicPr>
        <p:blipFill rotWithShape="1">
          <a:blip r:embed="rId3">
            <a:alphaModFix/>
          </a:blip>
          <a:srcRect l="6131" t="7737" r="14055" b="22733"/>
          <a:stretch/>
        </p:blipFill>
        <p:spPr>
          <a:xfrm>
            <a:off x="3382297" y="3833324"/>
            <a:ext cx="983225" cy="1249952"/>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4"/>
          <p:cNvSpPr txBox="1"/>
          <p:nvPr/>
        </p:nvSpPr>
        <p:spPr>
          <a:xfrm>
            <a:off x="792456" y="102293"/>
            <a:ext cx="10607100" cy="6653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b="1"/>
              <a:t>Problem Statement: Street Vendor Digitalization Agent</a:t>
            </a:r>
            <a:endParaRPr b="1"/>
          </a:p>
          <a:p>
            <a:pPr marL="0" marR="0" lvl="0" indent="0" algn="l" rtl="0">
              <a:lnSpc>
                <a:spcPct val="100000"/>
              </a:lnSpc>
              <a:spcBef>
                <a:spcPts val="0"/>
              </a:spcBef>
              <a:spcAft>
                <a:spcPts val="0"/>
              </a:spcAft>
              <a:buNone/>
            </a:pPr>
            <a:endParaRPr b="1"/>
          </a:p>
          <a:p>
            <a:pPr marL="0" marR="0" lvl="0" indent="0" algn="l" rtl="0">
              <a:lnSpc>
                <a:spcPct val="100000"/>
              </a:lnSpc>
              <a:spcBef>
                <a:spcPts val="0"/>
              </a:spcBef>
              <a:spcAft>
                <a:spcPts val="0"/>
              </a:spcAft>
              <a:buNone/>
            </a:pPr>
            <a:r>
              <a:rPr lang="en-US" b="1"/>
              <a:t>The Challenge</a:t>
            </a:r>
            <a:endParaRPr b="1"/>
          </a:p>
          <a:p>
            <a:pPr marL="0" marR="0" lvl="0" indent="0" algn="l" rtl="0">
              <a:lnSpc>
                <a:spcPct val="100000"/>
              </a:lnSpc>
              <a:spcBef>
                <a:spcPts val="0"/>
              </a:spcBef>
              <a:spcAft>
                <a:spcPts val="0"/>
              </a:spcAft>
              <a:buNone/>
            </a:pPr>
            <a:endParaRPr b="1"/>
          </a:p>
          <a:p>
            <a:pPr marL="0" marR="0" lvl="0" indent="0" algn="l" rtl="0">
              <a:lnSpc>
                <a:spcPct val="100000"/>
              </a:lnSpc>
              <a:spcBef>
                <a:spcPts val="0"/>
              </a:spcBef>
              <a:spcAft>
                <a:spcPts val="0"/>
              </a:spcAft>
              <a:buNone/>
            </a:pPr>
            <a:r>
              <a:rPr lang="en-US" b="1"/>
              <a:t>Street vendors and micro-entrepreneurs play a vital role in the local economy, yet many struggle to establish a digital presence and access modern business opportunities. Information about digital payments, government MSME schemes, online business registration, local marketing, and customer engagement is scattered across multiple government portals, fintech platforms, and commerce websites. Without personalized, real-time guidance, vendors often miss opportunities to increase visibility, attract more customers, access financial support, and grow their businesses.</a:t>
            </a:r>
            <a:endParaRPr b="1"/>
          </a:p>
          <a:p>
            <a:pPr marL="0" marR="0" lvl="0" indent="0" algn="l" rtl="0">
              <a:lnSpc>
                <a:spcPct val="100000"/>
              </a:lnSpc>
              <a:spcBef>
                <a:spcPts val="0"/>
              </a:spcBef>
              <a:spcAft>
                <a:spcPts val="0"/>
              </a:spcAft>
              <a:buNone/>
            </a:pPr>
            <a:endParaRPr b="1"/>
          </a:p>
          <a:p>
            <a:pPr marL="0" marR="0" lvl="0" indent="0" algn="l" rtl="0">
              <a:lnSpc>
                <a:spcPct val="100000"/>
              </a:lnSpc>
              <a:spcBef>
                <a:spcPts val="0"/>
              </a:spcBef>
              <a:spcAft>
                <a:spcPts val="0"/>
              </a:spcAft>
              <a:buNone/>
            </a:pPr>
            <a:r>
              <a:rPr lang="en-US" b="1"/>
              <a:t>The Objective</a:t>
            </a:r>
            <a:endParaRPr b="1"/>
          </a:p>
          <a:p>
            <a:pPr marL="0" marR="0" lvl="0" indent="0" algn="l" rtl="0">
              <a:lnSpc>
                <a:spcPct val="100000"/>
              </a:lnSpc>
              <a:spcBef>
                <a:spcPts val="0"/>
              </a:spcBef>
              <a:spcAft>
                <a:spcPts val="0"/>
              </a:spcAft>
              <a:buNone/>
            </a:pPr>
            <a:endParaRPr b="1"/>
          </a:p>
          <a:p>
            <a:pPr marL="0" marR="0" lvl="0" indent="0" algn="l" rtl="0">
              <a:lnSpc>
                <a:spcPct val="100000"/>
              </a:lnSpc>
              <a:spcBef>
                <a:spcPts val="0"/>
              </a:spcBef>
              <a:spcAft>
                <a:spcPts val="0"/>
              </a:spcAft>
              <a:buNone/>
            </a:pPr>
            <a:r>
              <a:rPr lang="en-US" b="1"/>
              <a:t>Build an AI-powered Street Vendor Digitalization Agent that provides personalized digital business guidance and support for street vendors and micro-entrepreneurs. The solution should:</a:t>
            </a:r>
            <a:endParaRPr b="1"/>
          </a:p>
          <a:p>
            <a:pPr marL="0" marR="0" lvl="0" indent="0" algn="l" rtl="0">
              <a:lnSpc>
                <a:spcPct val="100000"/>
              </a:lnSpc>
              <a:spcBef>
                <a:spcPts val="0"/>
              </a:spcBef>
              <a:spcAft>
                <a:spcPts val="0"/>
              </a:spcAft>
              <a:buNone/>
            </a:pPr>
            <a:endParaRPr b="1"/>
          </a:p>
          <a:p>
            <a:pPr marL="0" marR="0" lvl="0" indent="0" algn="l" rtl="0">
              <a:lnSpc>
                <a:spcPct val="100000"/>
              </a:lnSpc>
              <a:spcBef>
                <a:spcPts val="0"/>
              </a:spcBef>
              <a:spcAft>
                <a:spcPts val="0"/>
              </a:spcAft>
              <a:buNone/>
            </a:pPr>
            <a:r>
              <a:rPr lang="en-US" b="1"/>
              <a:t>- Business Profile Generation – Create professional digital business profiles based on the vendor's products, services, and location.</a:t>
            </a:r>
            <a:endParaRPr b="1"/>
          </a:p>
          <a:p>
            <a:pPr marL="0" marR="0" lvl="0" indent="0" algn="l" rtl="0">
              <a:lnSpc>
                <a:spcPct val="100000"/>
              </a:lnSpc>
              <a:spcBef>
                <a:spcPts val="0"/>
              </a:spcBef>
              <a:spcAft>
                <a:spcPts val="0"/>
              </a:spcAft>
              <a:buNone/>
            </a:pPr>
            <a:r>
              <a:rPr lang="en-US" b="1"/>
              <a:t>- RAG-Based Information Retrieval – Fetch and summarize real-time information about MSME schemes, PM SVANidhi, digital payment guidelines, government policies, and business registration from trusted sources.</a:t>
            </a:r>
            <a:endParaRPr b="1"/>
          </a:p>
          <a:p>
            <a:pPr marL="0" marR="0" lvl="0" indent="0" algn="l" rtl="0">
              <a:lnSpc>
                <a:spcPct val="100000"/>
              </a:lnSpc>
              <a:spcBef>
                <a:spcPts val="0"/>
              </a:spcBef>
              <a:spcAft>
                <a:spcPts val="0"/>
              </a:spcAft>
              <a:buNone/>
            </a:pPr>
            <a:r>
              <a:rPr lang="en-US" b="1"/>
              <a:t>- Digital Payment &amp; UPI Setup – Guide vendors through setting up UPI QR codes, digital wallets, and online payment systems.</a:t>
            </a:r>
            <a:endParaRPr b="1"/>
          </a:p>
          <a:p>
            <a:pPr marL="0" marR="0" lvl="0" indent="0" algn="l" rtl="0">
              <a:lnSpc>
                <a:spcPct val="100000"/>
              </a:lnSpc>
              <a:spcBef>
                <a:spcPts val="0"/>
              </a:spcBef>
              <a:spcAft>
                <a:spcPts val="0"/>
              </a:spcAft>
              <a:buNone/>
            </a:pPr>
            <a:r>
              <a:rPr lang="en-US" b="1"/>
              <a:t>- Local SEO &amp; Marketing Support – Recommend Google Business Profile setup, local SEO strategies, online listing platforms, and promotional ideas to improve visibility.</a:t>
            </a:r>
            <a:endParaRPr b="1"/>
          </a:p>
          <a:p>
            <a:pPr marL="0" marR="0" lvl="0" indent="0" algn="l" rtl="0">
              <a:lnSpc>
                <a:spcPct val="100000"/>
              </a:lnSpc>
              <a:spcBef>
                <a:spcPts val="0"/>
              </a:spcBef>
              <a:spcAft>
                <a:spcPts val="0"/>
              </a:spcAft>
              <a:buNone/>
            </a:pPr>
            <a:r>
              <a:rPr lang="en-US" b="1"/>
              <a:t>- Multi-Agent System –</a:t>
            </a:r>
            <a:endParaRPr b="1"/>
          </a:p>
          <a:p>
            <a:pPr marL="0" marR="0" lvl="0" indent="0" algn="l" rtl="0">
              <a:lnSpc>
                <a:spcPct val="100000"/>
              </a:lnSpc>
              <a:spcBef>
                <a:spcPts val="0"/>
              </a:spcBef>
              <a:spcAft>
                <a:spcPts val="0"/>
              </a:spcAft>
              <a:buNone/>
            </a:pPr>
            <a:r>
              <a:rPr lang="en-US" b="1"/>
              <a:t>  - Business Profile Agent (creates digital business profiles)</a:t>
            </a:r>
            <a:endParaRPr b="1"/>
          </a:p>
          <a:p>
            <a:pPr marL="0" marR="0" lvl="0" indent="0" algn="l" rtl="0">
              <a:lnSpc>
                <a:spcPct val="100000"/>
              </a:lnSpc>
              <a:spcBef>
                <a:spcPts val="0"/>
              </a:spcBef>
              <a:spcAft>
                <a:spcPts val="0"/>
              </a:spcAft>
              <a:buNone/>
            </a:pPr>
            <a:r>
              <a:rPr lang="en-US" b="1"/>
              <a:t>  - Government Scheme Agent (retrieves MSME schemes, loans, and policy information)</a:t>
            </a:r>
            <a:endParaRPr b="1"/>
          </a:p>
          <a:p>
            <a:pPr marL="0" marR="0" lvl="0" indent="0" algn="l" rtl="0">
              <a:lnSpc>
                <a:spcPct val="100000"/>
              </a:lnSpc>
              <a:spcBef>
                <a:spcPts val="0"/>
              </a:spcBef>
              <a:spcAft>
                <a:spcPts val="0"/>
              </a:spcAft>
              <a:buNone/>
            </a:pPr>
            <a:r>
              <a:rPr lang="en-US" b="1"/>
              <a:t>  - Digital Payment Agent (assists with UPI and QR code setup)</a:t>
            </a:r>
            <a:endParaRPr b="1"/>
          </a:p>
          <a:p>
            <a:pPr marL="0" marR="0" lvl="0" indent="0" algn="l" rtl="0">
              <a:lnSpc>
                <a:spcPct val="100000"/>
              </a:lnSpc>
              <a:spcBef>
                <a:spcPts val="0"/>
              </a:spcBef>
              <a:spcAft>
                <a:spcPts val="0"/>
              </a:spcAft>
              <a:buNone/>
            </a:pPr>
            <a:r>
              <a:rPr lang="en-US" b="1"/>
              <a:t>  - Marketing &amp; Customer Engagement Agent (suggests promotional campaigns, local SEO, and customer retention strategies)</a:t>
            </a:r>
            <a:endParaRPr b="1"/>
          </a:p>
          <a:p>
            <a:pPr marL="0" marR="0" lvl="0" indent="0" algn="l" rtl="0">
              <a:lnSpc>
                <a:spcPct val="100000"/>
              </a:lnSpc>
              <a:spcBef>
                <a:spcPts val="0"/>
              </a:spcBef>
              <a:spcAft>
                <a:spcPts val="0"/>
              </a:spcAft>
              <a:buNone/>
            </a:pPr>
            <a:r>
              <a:rPr lang="en-US" b="1"/>
              <a:t>- Business Insights Dashboard – Display digital onboarding progress, available government benefits, customer engagement recommendations, business growth insights, and marketing performance in a user-friendly dashboard.</a:t>
            </a:r>
            <a:endParaRPr b="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5"/>
          <p:cNvSpPr txBox="1"/>
          <p:nvPr/>
        </p:nvSpPr>
        <p:spPr>
          <a:xfrm>
            <a:off x="792443" y="704081"/>
            <a:ext cx="10607100" cy="6230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b="1"/>
              <a:t>Proposed Solution: AI-Powered Street Vendor Digitalization Agent</a:t>
            </a:r>
            <a:endParaRPr b="1"/>
          </a:p>
          <a:p>
            <a:pPr marL="0" marR="0" lvl="0" indent="0" algn="l" rtl="0">
              <a:lnSpc>
                <a:spcPct val="100000"/>
              </a:lnSpc>
              <a:spcBef>
                <a:spcPts val="0"/>
              </a:spcBef>
              <a:spcAft>
                <a:spcPts val="0"/>
              </a:spcAft>
              <a:buNone/>
            </a:pPr>
            <a:r>
              <a:rPr lang="en-US" b="1"/>
              <a:t>The proposed solution is a multi-agent AI-powered Street Vendor Digitalization Agent built using LangFlow, IBM watsonx.ai, and IBM Granite Models to provide personalized, real-time digital business guidance for street vendors and micro-entrepreneurs. The system addresses challenges in digital onboarding, online visibility, digital payments, and business growth through an intelligent, modular architecture.</a:t>
            </a:r>
            <a:endParaRPr b="1"/>
          </a:p>
          <a:p>
            <a:pPr marL="0" marR="0" lvl="0" indent="0" algn="l" rtl="0">
              <a:lnSpc>
                <a:spcPct val="100000"/>
              </a:lnSpc>
              <a:spcBef>
                <a:spcPts val="0"/>
              </a:spcBef>
              <a:spcAft>
                <a:spcPts val="0"/>
              </a:spcAft>
              <a:buNone/>
            </a:pPr>
            <a:r>
              <a:rPr lang="en-US" b="1"/>
              <a:t>At its core, the solution uses a Retrieval-Augmented Generation (RAG) pipeline to fetch accurate information from trusted sources such as MSME portals, PM SVANidhi Scheme, Digital India resources, UPI guidelines, and government policies. This information is embedded and stored in a vector database, enabling the system to retrieve and summarize relevant business information using IBM Granite models.</a:t>
            </a:r>
            <a:endParaRPr b="1"/>
          </a:p>
          <a:p>
            <a:pPr marL="0" marR="0" lvl="0" indent="0" algn="l" rtl="0">
              <a:lnSpc>
                <a:spcPct val="100000"/>
              </a:lnSpc>
              <a:spcBef>
                <a:spcPts val="0"/>
              </a:spcBef>
              <a:spcAft>
                <a:spcPts val="0"/>
              </a:spcAft>
              <a:buNone/>
            </a:pPr>
            <a:r>
              <a:rPr lang="en-US" b="1"/>
              <a:t>The system consists of four key agents:</a:t>
            </a:r>
            <a:endParaRPr b="1"/>
          </a:p>
          <a:p>
            <a:pPr marL="0" marR="0" lvl="0" indent="0" algn="l" rtl="0">
              <a:lnSpc>
                <a:spcPct val="100000"/>
              </a:lnSpc>
              <a:spcBef>
                <a:spcPts val="0"/>
              </a:spcBef>
              <a:spcAft>
                <a:spcPts val="0"/>
              </a:spcAft>
              <a:buNone/>
            </a:pPr>
            <a:r>
              <a:rPr lang="en-US" b="1"/>
              <a:t>Business Profile Agent creates professional digital business profiles based on the vendor's products, services, and location.</a:t>
            </a:r>
            <a:endParaRPr b="1"/>
          </a:p>
          <a:p>
            <a:pPr marL="0" marR="0" lvl="0" indent="0" algn="l" rtl="0">
              <a:lnSpc>
                <a:spcPct val="100000"/>
              </a:lnSpc>
              <a:spcBef>
                <a:spcPts val="0"/>
              </a:spcBef>
              <a:spcAft>
                <a:spcPts val="0"/>
              </a:spcAft>
              <a:buNone/>
            </a:pPr>
            <a:r>
              <a:rPr lang="en-US" b="1"/>
              <a:t>Government Scheme Agent retrieves and summarizes information about MSME schemes, loans, subsidies, and business registration using RAG.</a:t>
            </a:r>
            <a:endParaRPr b="1"/>
          </a:p>
          <a:p>
            <a:pPr marL="0" marR="0" lvl="0" indent="0" algn="l" rtl="0">
              <a:lnSpc>
                <a:spcPct val="100000"/>
              </a:lnSpc>
              <a:spcBef>
                <a:spcPts val="0"/>
              </a:spcBef>
              <a:spcAft>
                <a:spcPts val="0"/>
              </a:spcAft>
              <a:buNone/>
            </a:pPr>
            <a:r>
              <a:rPr lang="en-US" b="1"/>
              <a:t>Digital Payment Agent provides step-by-step guidance for setting up UPI, QR codes, digital wallets, and secure online payment systems.</a:t>
            </a:r>
            <a:endParaRPr b="1"/>
          </a:p>
          <a:p>
            <a:pPr marL="0" marR="0" lvl="0" indent="0" algn="l" rtl="0">
              <a:lnSpc>
                <a:spcPct val="100000"/>
              </a:lnSpc>
              <a:spcBef>
                <a:spcPts val="0"/>
              </a:spcBef>
              <a:spcAft>
                <a:spcPts val="0"/>
              </a:spcAft>
              <a:buNone/>
            </a:pPr>
            <a:r>
              <a:rPr lang="en-US" b="1"/>
              <a:t>Marketing &amp; Customer Engagement Agent recommends local SEO strategies, Google Business Profile setup, online listing platforms, pricing suggestions, promotional content, and customer engagement techniques.</a:t>
            </a:r>
            <a:endParaRPr b="1"/>
          </a:p>
          <a:p>
            <a:pPr marL="0" marR="0" lvl="0" indent="0" algn="l" rtl="0">
              <a:lnSpc>
                <a:spcPct val="100000"/>
              </a:lnSpc>
              <a:spcBef>
                <a:spcPts val="0"/>
              </a:spcBef>
              <a:spcAft>
                <a:spcPts val="0"/>
              </a:spcAft>
              <a:buNone/>
            </a:pPr>
            <a:r>
              <a:rPr lang="en-US" b="1"/>
              <a:t>The solution includes a user-friendly dashboard (built with Streamlit or React) that displays digital onboarding progress, available government schemes, business profile status, marketing recommendations, and customer engagement insights.</a:t>
            </a:r>
            <a:endParaRPr b="1"/>
          </a:p>
          <a:p>
            <a:pPr marL="0" marR="0" lvl="0" indent="0" algn="l" rtl="0">
              <a:lnSpc>
                <a:spcPct val="100000"/>
              </a:lnSpc>
              <a:spcBef>
                <a:spcPts val="0"/>
              </a:spcBef>
              <a:spcAft>
                <a:spcPts val="0"/>
              </a:spcAft>
              <a:buNone/>
            </a:pPr>
            <a:r>
              <a:rPr lang="en-US" b="1"/>
              <a:t>LangFlow is used to orchestrate agent workflows, while IBM watsonx.ai ensures scalable model deployment, embeddings, and AI governance. IBM Granite models power reasoning, retrieval, summarization, and personalized business recommendations.</a:t>
            </a:r>
            <a:endParaRPr b="1"/>
          </a:p>
          <a:p>
            <a:pPr marL="0" marR="0" lvl="0" indent="0" algn="l" rtl="0">
              <a:lnSpc>
                <a:spcPct val="100000"/>
              </a:lnSpc>
              <a:spcBef>
                <a:spcPts val="0"/>
              </a:spcBef>
              <a:spcAft>
                <a:spcPts val="0"/>
              </a:spcAft>
              <a:buNone/>
            </a:pPr>
            <a:r>
              <a:rPr lang="en-US" b="1"/>
              <a:t>Overall, this solution delivers an end-to-end intelligent digital business assistant that empowers street vendors to improve their digital presence, access government benefits, adopt digital payments, attract more customers, and grow their businesses in the hyperlocal economy.</a:t>
            </a:r>
            <a:endParaRPr b="1"/>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0" name="Google Shape;100;p15"/>
          <p:cNvSpPr txBox="1"/>
          <p:nvPr/>
        </p:nvSpPr>
        <p:spPr>
          <a:xfrm flipH="1">
            <a:off x="576075" y="246274"/>
            <a:ext cx="7214700" cy="457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Proposed Solution -</a:t>
            </a:r>
            <a:endParaRPr sz="2400" b="1" i="0" u="none" strike="noStrike" cap="non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16"/>
          <p:cNvSpPr txBox="1"/>
          <p:nvPr/>
        </p:nvSpPr>
        <p:spPr>
          <a:xfrm>
            <a:off x="777250" y="946300"/>
            <a:ext cx="10515600" cy="5258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800" b="1"/>
              <a:t>Technology Used</a:t>
            </a:r>
            <a:endParaRPr sz="1800" b="1"/>
          </a:p>
          <a:p>
            <a:pPr marL="0" marR="0" lvl="0" indent="0" algn="l" rtl="0">
              <a:lnSpc>
                <a:spcPct val="100000"/>
              </a:lnSpc>
              <a:spcBef>
                <a:spcPts val="0"/>
              </a:spcBef>
              <a:spcAft>
                <a:spcPts val="0"/>
              </a:spcAft>
              <a:buNone/>
            </a:pPr>
            <a:r>
              <a:rPr lang="en-US" sz="1800" b="1"/>
              <a:t>LangFlow Platform – For designing and orchestrating multi-agent workflows visually.</a:t>
            </a:r>
            <a:endParaRPr sz="1800" b="1"/>
          </a:p>
          <a:p>
            <a:pPr marL="0" marR="0" lvl="0" indent="0" algn="l" rtl="0">
              <a:lnSpc>
                <a:spcPct val="100000"/>
              </a:lnSpc>
              <a:spcBef>
                <a:spcPts val="0"/>
              </a:spcBef>
              <a:spcAft>
                <a:spcPts val="0"/>
              </a:spcAft>
              <a:buNone/>
            </a:pPr>
            <a:r>
              <a:rPr lang="en-US" sz="1800" b="1"/>
              <a:t>IBM BOB (Build on IBM) – For developing, testing, and deploying the Street Vendor Digitalization Agent using IBM's AI development platform and tools.</a:t>
            </a:r>
            <a:endParaRPr sz="1800" b="1"/>
          </a:p>
          <a:p>
            <a:pPr marL="0" marR="0" lvl="0" indent="0" algn="l" rtl="0">
              <a:lnSpc>
                <a:spcPct val="100000"/>
              </a:lnSpc>
              <a:spcBef>
                <a:spcPts val="0"/>
              </a:spcBef>
              <a:spcAft>
                <a:spcPts val="0"/>
              </a:spcAft>
              <a:buNone/>
            </a:pPr>
            <a:r>
              <a:rPr lang="en-US" sz="1800" b="1"/>
              <a:t>IBM Granite Model – For eg. ibm-granite-3-2-8b – For natural language understanding, reasoning, business profile generation, and personalized business recommendations.</a:t>
            </a:r>
            <a:endParaRPr sz="1800" b="1"/>
          </a:p>
          <a:p>
            <a:pPr marL="0" marR="0" lvl="0" indent="0" algn="l" rtl="0">
              <a:lnSpc>
                <a:spcPct val="100000"/>
              </a:lnSpc>
              <a:spcBef>
                <a:spcPts val="0"/>
              </a:spcBef>
              <a:spcAft>
                <a:spcPts val="0"/>
              </a:spcAft>
              <a:buNone/>
            </a:pPr>
            <a:r>
              <a:rPr lang="en-US" sz="1800" b="1"/>
              <a:t>IBM Cloud – It provides the infrastructure to build, deploy, and scale the Street Vendor Digitalization Agent efficiently. IBM Cloud enables a reliable, secure, and scalable environment for deploying the Street Vendor Digitalization Agent.</a:t>
            </a:r>
            <a:endParaRPr sz="1800" b="1"/>
          </a:p>
          <a:p>
            <a:pPr marL="0" marR="0" lvl="0" indent="0" algn="l" rtl="0">
              <a:lnSpc>
                <a:spcPct val="100000"/>
              </a:lnSpc>
              <a:spcBef>
                <a:spcPts val="0"/>
              </a:spcBef>
              <a:spcAft>
                <a:spcPts val="0"/>
              </a:spcAft>
              <a:buNone/>
            </a:pPr>
            <a:r>
              <a:rPr lang="en-US" sz="1800" b="1"/>
              <a:t>RAG (Retrieval-Augmented Generation) – RAG fetches real-time information first from government portals, MSME schemes, UPI guidelines, and digital commerce platforms, then generates intelligent answers, making the Street Vendor Digitalization Agent more trustworthy and effective.</a:t>
            </a:r>
            <a:endParaRPr sz="1800" b="1"/>
          </a:p>
          <a:p>
            <a:pPr marL="0" marR="0" lvl="0" indent="0" algn="l" rtl="0">
              <a:lnSpc>
                <a:spcPct val="100000"/>
              </a:lnSpc>
              <a:spcBef>
                <a:spcPts val="0"/>
              </a:spcBef>
              <a:spcAft>
                <a:spcPts val="0"/>
              </a:spcAft>
              <a:buNone/>
            </a:pPr>
            <a:r>
              <a:rPr lang="en-US" sz="1800" b="1"/>
              <a:t>IBM watsonx.ai – For model deployment, embeddings, and AI governance.</a:t>
            </a:r>
            <a:endParaRPr sz="1800" b="1"/>
          </a:p>
          <a:p>
            <a:pPr marL="0" marR="0" lvl="0" indent="0" algn="l" rtl="0">
              <a:lnSpc>
                <a:spcPct val="100000"/>
              </a:lnSpc>
              <a:spcBef>
                <a:spcPts val="0"/>
              </a:spcBef>
              <a:spcAft>
                <a:spcPts val="0"/>
              </a:spcAft>
              <a:buNone/>
            </a:pPr>
            <a:r>
              <a:rPr lang="en-US" sz="1800" b="1"/>
              <a:t>Vector Database (FAISS/Chroma) – For RAG-based retrieval of MSME schemes, government policies, digital payment guidelines, and business information.</a:t>
            </a:r>
            <a:endParaRPr sz="1800" b="1"/>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17"/>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Langflow</a:t>
            </a: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00000"/>
                </a:solidFill>
                <a:latin typeface="Arial"/>
                <a:ea typeface="Arial"/>
                <a:cs typeface="Arial"/>
                <a:sym typeface="Arial"/>
              </a:rPr>
              <a:t>component Used -</a:t>
            </a:r>
            <a:endParaRPr sz="2400" b="1" i="0" u="none" strike="noStrike" cap="none">
              <a:solidFill>
                <a:srgbClr val="000000"/>
              </a:solidFill>
              <a:latin typeface="Arial"/>
              <a:ea typeface="Arial"/>
              <a:cs typeface="Arial"/>
              <a:sym typeface="Arial"/>
            </a:endParaRPr>
          </a:p>
        </p:txBody>
      </p:sp>
      <p:sp>
        <p:nvSpPr>
          <p:cNvPr id="111" name="Google Shape;111;p17"/>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2" name="Google Shape;112;p17"/>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3" name="Google Shape;113;p17"/>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4" name="Google Shape;114;p17"/>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5" name="Google Shape;115;p17"/>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6" name="Google Shape;116;p17"/>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7" name="Google Shape;117;p17"/>
          <p:cNvSpPr txBox="1"/>
          <p:nvPr/>
        </p:nvSpPr>
        <p:spPr>
          <a:xfrm>
            <a:off x="957900" y="659225"/>
            <a:ext cx="10276200" cy="6033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400"/>
          </a:p>
          <a:p>
            <a:pPr marL="0" lvl="0" indent="0" algn="l" rtl="0">
              <a:spcBef>
                <a:spcPts val="0"/>
              </a:spcBef>
              <a:spcAft>
                <a:spcPts val="0"/>
              </a:spcAft>
              <a:buNone/>
            </a:pPr>
            <a:r>
              <a:rPr lang="en-US" sz="2400"/>
              <a:t>1) Chat Input – Interface where street vendors enter their business details, queries, or requirements (text/voice), such as products sold, business location, or digitalization needs.</a:t>
            </a:r>
            <a:endParaRPr sz="2400"/>
          </a:p>
          <a:p>
            <a:pPr marL="0" lvl="0" indent="0" algn="l" rtl="0">
              <a:spcBef>
                <a:spcPts val="0"/>
              </a:spcBef>
              <a:spcAft>
                <a:spcPts val="0"/>
              </a:spcAft>
              <a:buNone/>
            </a:pPr>
            <a:r>
              <a:rPr lang="en-US" sz="2400"/>
              <a:t>2) IBM watsonx AI Agent – Processes vendor input using IBM Granite models to generate personalized business profiles, government scheme recommendations, UPI setup guidance, and digital marketing suggestions.</a:t>
            </a:r>
            <a:endParaRPr sz="2400"/>
          </a:p>
          <a:p>
            <a:pPr marL="0" lvl="0" indent="0" algn="l" rtl="0">
              <a:spcBef>
                <a:spcPts val="0"/>
              </a:spcBef>
              <a:spcAft>
                <a:spcPts val="0"/>
              </a:spcAft>
              <a:buNone/>
            </a:pPr>
            <a:r>
              <a:rPr lang="en-US" sz="2400"/>
              <a:t>3) Name of IBM Granite Model – Granite-4.0-8B-Instruct → Fast and efficient for real-time business guidance, reasoning, and personalized recommendations.</a:t>
            </a:r>
            <a:endParaRPr sz="2400"/>
          </a:p>
          <a:p>
            <a:pPr marL="0" lvl="0" indent="0" algn="l" rtl="0">
              <a:spcBef>
                <a:spcPts val="0"/>
              </a:spcBef>
              <a:spcAft>
                <a:spcPts val="0"/>
              </a:spcAft>
              <a:buNone/>
            </a:pPr>
            <a:r>
              <a:rPr lang="en-US" sz="2400"/>
              <a:t>4) Chat Output – Displays AI-generated responses such as business profiles, MSME scheme details, UPI QR setup instructions, local SEO strategies, customer engagement tips, and promotional recommendations.</a:t>
            </a:r>
            <a:endParaRPr sz="2400"/>
          </a:p>
          <a:p>
            <a:pPr marL="0" lvl="0" indent="0" algn="l" rtl="0">
              <a:spcBef>
                <a:spcPts val="0"/>
              </a:spcBef>
              <a:spcAft>
                <a:spcPts val="0"/>
              </a:spcAft>
              <a:buNone/>
            </a:pPr>
            <a:r>
              <a:rPr lang="en-US" sz="2400"/>
              <a:t>5) File Component – Stores and retrieves government policies, MSME scheme documents, digital payment guidelines, and business knowledge for RAG-based information retrieval.</a:t>
            </a:r>
            <a:endParaRPr sz="24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8"/>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Langflow</a:t>
            </a: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00000"/>
                </a:solidFill>
                <a:latin typeface="Arial"/>
                <a:ea typeface="Arial"/>
                <a:cs typeface="Arial"/>
                <a:sym typeface="Arial"/>
              </a:rPr>
              <a:t>workflow -</a:t>
            </a:r>
            <a:endParaRPr sz="2400" b="1" i="0" u="none" strike="noStrike" cap="none">
              <a:solidFill>
                <a:srgbClr val="000000"/>
              </a:solidFill>
              <a:latin typeface="Arial"/>
              <a:ea typeface="Arial"/>
              <a:cs typeface="Arial"/>
              <a:sym typeface="Arial"/>
            </a:endParaRPr>
          </a:p>
        </p:txBody>
      </p:sp>
      <p:pic>
        <p:nvPicPr>
          <p:cNvPr id="123" name="Google Shape;123;p18"/>
          <p:cNvPicPr preferRelativeResize="0"/>
          <p:nvPr/>
        </p:nvPicPr>
        <p:blipFill rotWithShape="1">
          <a:blip r:embed="rId3">
            <a:alphaModFix/>
          </a:blip>
          <a:srcRect/>
          <a:stretch/>
        </p:blipFill>
        <p:spPr>
          <a:xfrm>
            <a:off x="576838" y="1282526"/>
            <a:ext cx="11038323" cy="55754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9"/>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400" b="1" i="0" u="none" strike="noStrike" cap="none">
                <a:solidFill>
                  <a:schemeClr val="dk1"/>
                </a:solidFill>
                <a:latin typeface="Calibri"/>
                <a:ea typeface="Calibri"/>
                <a:cs typeface="Calibri"/>
                <a:sym typeface="Calibri"/>
              </a:rPr>
              <a:t>Architecture blueprint</a:t>
            </a:r>
            <a:endParaRPr sz="2400" b="0" i="0" u="none" strike="noStrike" cap="none">
              <a:solidFill>
                <a:srgbClr val="000000"/>
              </a:solidFill>
              <a:latin typeface="Arial"/>
              <a:ea typeface="Arial"/>
              <a:cs typeface="Arial"/>
              <a:sym typeface="Arial"/>
            </a:endParaRPr>
          </a:p>
        </p:txBody>
      </p:sp>
      <p:pic>
        <p:nvPicPr>
          <p:cNvPr id="129" name="Google Shape;129;p19"/>
          <p:cNvPicPr preferRelativeResize="0"/>
          <p:nvPr/>
        </p:nvPicPr>
        <p:blipFill rotWithShape="1">
          <a:blip r:embed="rId3">
            <a:alphaModFix/>
          </a:blip>
          <a:srcRect/>
          <a:stretch/>
        </p:blipFill>
        <p:spPr>
          <a:xfrm>
            <a:off x="487680" y="771747"/>
            <a:ext cx="11216640" cy="604174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pic>
        <p:nvPicPr>
          <p:cNvPr id="134" name="Google Shape;134;p20"/>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135" name="Google Shape;135;p20"/>
          <p:cNvSpPr txBox="1"/>
          <p:nvPr/>
        </p:nvSpPr>
        <p:spPr>
          <a:xfrm>
            <a:off x="475488" y="283464"/>
            <a:ext cx="9317736"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3200" b="1" i="0" u="none" strike="noStrike" cap="none">
                <a:solidFill>
                  <a:srgbClr val="000000"/>
                </a:solidFill>
                <a:latin typeface="Arial"/>
                <a:ea typeface="Arial"/>
                <a:cs typeface="Arial"/>
                <a:sym typeface="Arial"/>
              </a:rPr>
              <a:t>Role of Agentic AI in the solution </a:t>
            </a:r>
            <a:endParaRPr sz="3200" b="1" i="0" u="none" strike="noStrike" cap="none">
              <a:solidFill>
                <a:srgbClr val="000000"/>
              </a:solidFill>
              <a:latin typeface="Arial"/>
              <a:ea typeface="Arial"/>
              <a:cs typeface="Arial"/>
              <a:sym typeface="Arial"/>
            </a:endParaRPr>
          </a:p>
        </p:txBody>
      </p:sp>
      <p:sp>
        <p:nvSpPr>
          <p:cNvPr id="136" name="Google Shape;136;p20"/>
          <p:cNvSpPr txBox="1"/>
          <p:nvPr/>
        </p:nvSpPr>
        <p:spPr>
          <a:xfrm>
            <a:off x="621800" y="1167500"/>
            <a:ext cx="7750200" cy="41136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b="1"/>
              <a:t>Role of Agentic AI in Street Vendor Digitalization Agent</a:t>
            </a:r>
            <a:endParaRPr b="1"/>
          </a:p>
          <a:p>
            <a:pPr marL="0" marR="0" lvl="0" indent="0" algn="l" rtl="0">
              <a:lnSpc>
                <a:spcPct val="100000"/>
              </a:lnSpc>
              <a:spcBef>
                <a:spcPts val="0"/>
              </a:spcBef>
              <a:spcAft>
                <a:spcPts val="0"/>
              </a:spcAft>
              <a:buNone/>
            </a:pPr>
            <a:r>
              <a:rPr lang="en-US" b="1"/>
              <a:t>Agentic AI enables the Street Vendor Digitalization Agent to function as an intelligent, autonomous system rather than a simple chatbot. Using IBM watsonx.ai and IBM Granite models, it coordinates multiple specialized agents to deliver personalized digital business guidance.</a:t>
            </a:r>
            <a:endParaRPr b="1"/>
          </a:p>
          <a:p>
            <a:pPr marL="0" marR="0" lvl="0" indent="0" algn="l" rtl="0">
              <a:lnSpc>
                <a:spcPct val="100000"/>
              </a:lnSpc>
              <a:spcBef>
                <a:spcPts val="0"/>
              </a:spcBef>
              <a:spcAft>
                <a:spcPts val="0"/>
              </a:spcAft>
              <a:buNone/>
            </a:pPr>
            <a:r>
              <a:rPr lang="en-US" b="1"/>
              <a:t>Each agent performs a specific role—such as generating business profiles, retrieving government schemes, providing UPI setup guidance, and recommending local marketing strategies—while working collaboratively. This multi-agent approach ensures efficient task execution and accurate results.</a:t>
            </a:r>
            <a:endParaRPr b="1"/>
          </a:p>
          <a:p>
            <a:pPr marL="0" marR="0" lvl="0" indent="0" algn="l" rtl="0">
              <a:lnSpc>
                <a:spcPct val="100000"/>
              </a:lnSpc>
              <a:spcBef>
                <a:spcPts val="0"/>
              </a:spcBef>
              <a:spcAft>
                <a:spcPts val="0"/>
              </a:spcAft>
              <a:buNone/>
            </a:pPr>
            <a:r>
              <a:rPr lang="en-US" b="1"/>
              <a:t>Agentic AI also brings context awareness, understanding vendor details such as business type, products sold, location, and customer base to generate personalized recommendations. It supports real-time adaptation, continuously updating suggestions based on vendor inputs and the latest government policies.</a:t>
            </a:r>
            <a:endParaRPr b="1"/>
          </a:p>
          <a:p>
            <a:pPr marL="0" marR="0" lvl="0" indent="0" algn="l" rtl="0">
              <a:lnSpc>
                <a:spcPct val="100000"/>
              </a:lnSpc>
              <a:spcBef>
                <a:spcPts val="0"/>
              </a:spcBef>
              <a:spcAft>
                <a:spcPts val="0"/>
              </a:spcAft>
              <a:buNone/>
            </a:pPr>
            <a:r>
              <a:rPr lang="en-US" b="1"/>
              <a:t>Additionally, agents communicate with each other, enabling better decision-making and improved business outcomes.</a:t>
            </a:r>
            <a:endParaRPr b="1"/>
          </a:p>
          <a:p>
            <a:pPr marL="0" marR="0" lvl="0" indent="0" algn="l" rtl="0">
              <a:lnSpc>
                <a:spcPct val="100000"/>
              </a:lnSpc>
              <a:spcBef>
                <a:spcPts val="0"/>
              </a:spcBef>
              <a:spcAft>
                <a:spcPts val="0"/>
              </a:spcAft>
              <a:buNone/>
            </a:pPr>
            <a:r>
              <a:rPr lang="en-US" b="1"/>
              <a:t>Overall, Agentic AI makes the system proactive, personalized, and goal-driven, acting like a smart digital business assistant that helps street vendors establish a digital presence, access government benefits, attract more customers, and grow their businesses.</a:t>
            </a:r>
            <a:endParaRPr b="1"/>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1"/>
          <p:cNvSpPr/>
          <p:nvPr/>
        </p:nvSpPr>
        <p:spPr>
          <a:xfrm>
            <a:off x="793192" y="341560"/>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None/>
            </a:pPr>
            <a:r>
              <a:rPr lang="en-US" sz="2400" b="1" i="0" u="none" strike="noStrike" cap="none">
                <a:solidFill>
                  <a:srgbClr val="000000"/>
                </a:solidFill>
                <a:latin typeface="Arial"/>
                <a:ea typeface="Arial"/>
                <a:cs typeface="Arial"/>
                <a:sym typeface="Arial"/>
              </a:rPr>
              <a:t>Token Usage </a:t>
            </a:r>
            <a:endParaRPr sz="2400" b="1" i="0" u="none" strike="noStrike" cap="none">
              <a:solidFill>
                <a:srgbClr val="000000"/>
              </a:solidFill>
              <a:latin typeface="Arial"/>
              <a:ea typeface="Arial"/>
              <a:cs typeface="Arial"/>
              <a:sym typeface="Arial"/>
            </a:endParaRPr>
          </a:p>
        </p:txBody>
      </p:sp>
      <p:sp>
        <p:nvSpPr>
          <p:cNvPr id="142" name="Google Shape;142;p21"/>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3" name="Google Shape;143;p21"/>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4" name="Google Shape;144;p21"/>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5" name="Google Shape;145;p21"/>
          <p:cNvSpPr txBox="1"/>
          <p:nvPr/>
        </p:nvSpPr>
        <p:spPr>
          <a:xfrm>
            <a:off x="897392" y="1042133"/>
            <a:ext cx="4371171"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400" b="0" i="0" u="none" strike="noStrike" cap="none">
                <a:solidFill>
                  <a:srgbClr val="000000"/>
                </a:solidFill>
                <a:latin typeface="Arial"/>
                <a:ea typeface="Arial"/>
                <a:cs typeface="Arial"/>
                <a:sym typeface="Arial"/>
              </a:rPr>
              <a:t>11,761 token are used</a:t>
            </a:r>
            <a:endParaRPr/>
          </a:p>
        </p:txBody>
      </p:sp>
      <p:sp>
        <p:nvSpPr>
          <p:cNvPr id="146" name="Google Shape;146;p21"/>
          <p:cNvSpPr txBox="1"/>
          <p:nvPr/>
        </p:nvSpPr>
        <p:spPr>
          <a:xfrm>
            <a:off x="1278639" y="1718067"/>
            <a:ext cx="2743199"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0" i="0" u="sng" strike="noStrike" cap="none">
                <a:solidFill>
                  <a:srgbClr val="000000"/>
                </a:solidFill>
                <a:latin typeface="Arial"/>
                <a:ea typeface="Arial"/>
                <a:cs typeface="Arial"/>
                <a:sym typeface="Arial"/>
              </a:rPr>
              <a:t>Before Prompt</a:t>
            </a:r>
            <a:endParaRPr/>
          </a:p>
        </p:txBody>
      </p:sp>
      <p:sp>
        <p:nvSpPr>
          <p:cNvPr id="147" name="Google Shape;147;p21"/>
          <p:cNvSpPr txBox="1"/>
          <p:nvPr/>
        </p:nvSpPr>
        <p:spPr>
          <a:xfrm>
            <a:off x="7106828" y="1722919"/>
            <a:ext cx="2743199"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0" i="0" u="sng" strike="noStrike" cap="none">
                <a:solidFill>
                  <a:srgbClr val="000000"/>
                </a:solidFill>
                <a:latin typeface="Arial"/>
                <a:ea typeface="Arial"/>
                <a:cs typeface="Arial"/>
                <a:sym typeface="Arial"/>
              </a:rPr>
              <a:t>After the Prompt</a:t>
            </a:r>
            <a:endParaRPr/>
          </a:p>
        </p:txBody>
      </p:sp>
      <p:pic>
        <p:nvPicPr>
          <p:cNvPr id="148" name="Google Shape;148;p21"/>
          <p:cNvPicPr preferRelativeResize="0"/>
          <p:nvPr/>
        </p:nvPicPr>
        <p:blipFill rotWithShape="1">
          <a:blip r:embed="rId3">
            <a:alphaModFix/>
          </a:blip>
          <a:srcRect/>
          <a:stretch/>
        </p:blipFill>
        <p:spPr>
          <a:xfrm>
            <a:off x="6314599" y="2391113"/>
            <a:ext cx="5188316" cy="2919979"/>
          </a:xfrm>
          <a:prstGeom prst="rect">
            <a:avLst/>
          </a:prstGeom>
          <a:noFill/>
          <a:ln>
            <a:noFill/>
          </a:ln>
        </p:spPr>
      </p:pic>
      <p:pic>
        <p:nvPicPr>
          <p:cNvPr id="149" name="Google Shape;149;p21"/>
          <p:cNvPicPr preferRelativeResize="0"/>
          <p:nvPr/>
        </p:nvPicPr>
        <p:blipFill rotWithShape="1">
          <a:blip r:embed="rId4">
            <a:alphaModFix/>
          </a:blip>
          <a:srcRect t="12268"/>
          <a:stretch/>
        </p:blipFill>
        <p:spPr>
          <a:xfrm>
            <a:off x="361005" y="2387378"/>
            <a:ext cx="5734995" cy="290873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2"/>
          <p:cNvSpPr txBox="1"/>
          <p:nvPr/>
        </p:nvSpPr>
        <p:spPr>
          <a:xfrm>
            <a:off x="777240" y="484632"/>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Novelty and Uniqueness</a:t>
            </a:r>
            <a:endParaRPr sz="2400" b="1" i="0" u="none" strike="noStrike" cap="none">
              <a:solidFill>
                <a:srgbClr val="000000"/>
              </a:solidFill>
              <a:latin typeface="Arial"/>
              <a:ea typeface="Arial"/>
              <a:cs typeface="Arial"/>
              <a:sym typeface="Arial"/>
            </a:endParaRPr>
          </a:p>
        </p:txBody>
      </p:sp>
      <p:sp>
        <p:nvSpPr>
          <p:cNvPr id="155" name="Google Shape;155;p22"/>
          <p:cNvSpPr txBox="1"/>
          <p:nvPr/>
        </p:nvSpPr>
        <p:spPr>
          <a:xfrm>
            <a:off x="777250" y="946302"/>
            <a:ext cx="11301900" cy="50466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800"/>
              <a:t>The proposed Street Vendor Digitalization Agent stands out by combining Agentic AI, RAG, and personalization into a single intelligent system.</a:t>
            </a:r>
            <a:endParaRPr sz="1800"/>
          </a:p>
          <a:p>
            <a:pPr marL="0" marR="0" lvl="0" indent="0" algn="l" rtl="0">
              <a:lnSpc>
                <a:spcPct val="100000"/>
              </a:lnSpc>
              <a:spcBef>
                <a:spcPts val="0"/>
              </a:spcBef>
              <a:spcAft>
                <a:spcPts val="0"/>
              </a:spcAft>
              <a:buNone/>
            </a:pPr>
            <a:r>
              <a:rPr lang="en-US" sz="1800"/>
              <a:t>Multi-Agent Intelligence – Instead of a single chatbot, multiple specialized agents collaborate to deliver accurate and context-aware digital business guidance.</a:t>
            </a:r>
            <a:endParaRPr sz="1800"/>
          </a:p>
          <a:p>
            <a:pPr marL="0" marR="0" lvl="0" indent="0" algn="l" rtl="0">
              <a:lnSpc>
                <a:spcPct val="100000"/>
              </a:lnSpc>
              <a:spcBef>
                <a:spcPts val="0"/>
              </a:spcBef>
              <a:spcAft>
                <a:spcPts val="0"/>
              </a:spcAft>
              <a:buNone/>
            </a:pPr>
            <a:r>
              <a:rPr lang="en-US" sz="1800"/>
              <a:t>RAG-Based Accuracy – Integrates real-time information retrieval from government portals, MSME schemes, UPI guidelines, and commerce platforms with AI generation, ensuring trustworthy and up-to-date recommendations.</a:t>
            </a:r>
            <a:endParaRPr sz="1800"/>
          </a:p>
          <a:p>
            <a:pPr marL="0" marR="0" lvl="0" indent="0" algn="l" rtl="0">
              <a:lnSpc>
                <a:spcPct val="100000"/>
              </a:lnSpc>
              <a:spcBef>
                <a:spcPts val="0"/>
              </a:spcBef>
              <a:spcAft>
                <a:spcPts val="0"/>
              </a:spcAft>
              <a:buNone/>
            </a:pPr>
            <a:r>
              <a:rPr lang="en-US" sz="1800"/>
              <a:t>Hyper-Personalization – Tailors business profiles, marketing strategies, and digital onboarding recommendations based on the vendor's business type, products, and location.</a:t>
            </a:r>
            <a:endParaRPr sz="1800"/>
          </a:p>
          <a:p>
            <a:pPr marL="0" marR="0" lvl="0" indent="0" algn="l" rtl="0">
              <a:lnSpc>
                <a:spcPct val="100000"/>
              </a:lnSpc>
              <a:spcBef>
                <a:spcPts val="0"/>
              </a:spcBef>
              <a:spcAft>
                <a:spcPts val="0"/>
              </a:spcAft>
              <a:buNone/>
            </a:pPr>
            <a:r>
              <a:rPr lang="en-US" sz="1800"/>
              <a:t>Real-Time Assistance – Continuously adapts recommendations based on vendor queries, business updates, and the latest government policies.</a:t>
            </a:r>
            <a:endParaRPr sz="1800"/>
          </a:p>
          <a:p>
            <a:pPr marL="0" marR="0" lvl="0" indent="0" algn="l" rtl="0">
              <a:lnSpc>
                <a:spcPct val="100000"/>
              </a:lnSpc>
              <a:spcBef>
                <a:spcPts val="0"/>
              </a:spcBef>
              <a:spcAft>
                <a:spcPts val="0"/>
              </a:spcAft>
              <a:buNone/>
            </a:pPr>
            <a:r>
              <a:rPr lang="en-US" sz="1800"/>
              <a:t>Multi-Modal Input – Supports text, voice, and image-based interactions, making the solution easy to use for vendors with different levels of digital literacy.</a:t>
            </a:r>
            <a:endParaRPr sz="1800"/>
          </a:p>
          <a:p>
            <a:pPr marL="0" marR="0" lvl="0" indent="0" algn="l" rtl="0">
              <a:lnSpc>
                <a:spcPct val="100000"/>
              </a:lnSpc>
              <a:spcBef>
                <a:spcPts val="0"/>
              </a:spcBef>
              <a:spcAft>
                <a:spcPts val="0"/>
              </a:spcAft>
              <a:buNone/>
            </a:pPr>
            <a:r>
              <a:rPr lang="en-US" sz="1800"/>
              <a:t>Business Growth Focus – Goes beyond digital onboarding by providing government scheme guidance, digital payment setup, local SEO strategies, and customer engagement recommendations.</a:t>
            </a:r>
            <a:endParaRPr sz="1800"/>
          </a:p>
          <a:p>
            <a:pPr marL="0" marR="0" lvl="0" indent="0" algn="l" rtl="0">
              <a:lnSpc>
                <a:spcPct val="100000"/>
              </a:lnSpc>
              <a:spcBef>
                <a:spcPts val="0"/>
              </a:spcBef>
              <a:spcAft>
                <a:spcPts val="0"/>
              </a:spcAft>
              <a:buNone/>
            </a:pPr>
            <a:r>
              <a:rPr lang="en-US" sz="1800"/>
              <a:t>Scalable &amp; Enterprise-Ready – Built on IBM watsonx.ai, IBM Granite models, and IBM Cloud, ensuring reliability, scalability, and AI governance.</a:t>
            </a:r>
            <a:r>
              <a:rPr lang="en-US" sz="1800" b="0" i="0" u="none" strike="noStrike" cap="none">
                <a:solidFill>
                  <a:srgbClr val="000000"/>
                </a:solidFill>
                <a:latin typeface="Arial"/>
                <a:ea typeface="Arial"/>
                <a:cs typeface="Arial"/>
                <a:sym typeface="Arial"/>
              </a:rPr>
              <a: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73608D-E8D2-634D-F2E4-CFD11645C721}"/>
              </a:ext>
            </a:extLst>
          </p:cNvPr>
          <p:cNvSpPr>
            <a:spLocks noGrp="1"/>
          </p:cNvSpPr>
          <p:nvPr>
            <p:ph type="title"/>
          </p:nvPr>
        </p:nvSpPr>
        <p:spPr/>
        <p:txBody>
          <a:bodyPr/>
          <a:lstStyle/>
          <a:p>
            <a:endParaRPr lang="en-IN"/>
          </a:p>
        </p:txBody>
      </p:sp>
      <p:sp>
        <p:nvSpPr>
          <p:cNvPr id="3" name="Text Placeholder 2">
            <a:extLst>
              <a:ext uri="{FF2B5EF4-FFF2-40B4-BE49-F238E27FC236}">
                <a16:creationId xmlns:a16="http://schemas.microsoft.com/office/drawing/2014/main" id="{ED8E87A5-DCFB-E857-CA6E-534BB97D905C}"/>
              </a:ext>
            </a:extLst>
          </p:cNvPr>
          <p:cNvSpPr>
            <a:spLocks noGrp="1"/>
          </p:cNvSpPr>
          <p:nvPr>
            <p:ph type="body" idx="1"/>
          </p:nvPr>
        </p:nvSpPr>
        <p:spPr/>
        <p:txBody>
          <a:bodyPr/>
          <a:lstStyle/>
          <a:p>
            <a:endParaRPr lang="en-IN"/>
          </a:p>
        </p:txBody>
      </p:sp>
      <p:pic>
        <p:nvPicPr>
          <p:cNvPr id="4" name="Picture 3">
            <a:extLst>
              <a:ext uri="{FF2B5EF4-FFF2-40B4-BE49-F238E27FC236}">
                <a16:creationId xmlns:a16="http://schemas.microsoft.com/office/drawing/2014/main" id="{63E8E3AD-8B56-FFD6-C672-1DA89A9CFA9D}"/>
              </a:ext>
            </a:extLst>
          </p:cNvPr>
          <p:cNvPicPr/>
          <p:nvPr/>
        </p:nvPicPr>
        <p:blipFill>
          <a:blip r:embed="rId2"/>
          <a:stretch>
            <a:fillRect/>
          </a:stretch>
        </p:blipFill>
        <p:spPr>
          <a:xfrm>
            <a:off x="838200" y="206477"/>
            <a:ext cx="10813026" cy="6286397"/>
          </a:xfrm>
          <a:prstGeom prst="rect">
            <a:avLst/>
          </a:prstGeom>
        </p:spPr>
      </p:pic>
    </p:spTree>
    <p:extLst>
      <p:ext uri="{BB962C8B-B14F-4D97-AF65-F5344CB8AC3E}">
        <p14:creationId xmlns:p14="http://schemas.microsoft.com/office/powerpoint/2010/main" val="6416149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3"/>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Calibri"/>
              <a:buNone/>
            </a:pPr>
            <a:endParaRPr/>
          </a:p>
        </p:txBody>
      </p:sp>
      <p:sp>
        <p:nvSpPr>
          <p:cNvPr id="161" name="Google Shape;161;p23"/>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457200" lvl="0" indent="-228600" algn="l" rtl="0">
              <a:lnSpc>
                <a:spcPct val="90000"/>
              </a:lnSpc>
              <a:spcBef>
                <a:spcPts val="1000"/>
              </a:spcBef>
              <a:spcAft>
                <a:spcPts val="0"/>
              </a:spcAft>
              <a:buClr>
                <a:srgbClr val="888888"/>
              </a:buClr>
              <a:buSzPts val="2400"/>
              <a:buNone/>
            </a:pPr>
            <a:endParaRPr/>
          </a:p>
        </p:txBody>
      </p:sp>
      <p:grpSp>
        <p:nvGrpSpPr>
          <p:cNvPr id="2" name="Group 1">
            <a:extLst>
              <a:ext uri="{FF2B5EF4-FFF2-40B4-BE49-F238E27FC236}">
                <a16:creationId xmlns:a16="http://schemas.microsoft.com/office/drawing/2014/main" id="{157E5D3F-8AC4-29A8-821B-D13C0D4687A9}"/>
              </a:ext>
            </a:extLst>
          </p:cNvPr>
          <p:cNvGrpSpPr/>
          <p:nvPr/>
        </p:nvGrpSpPr>
        <p:grpSpPr>
          <a:xfrm>
            <a:off x="450338" y="245807"/>
            <a:ext cx="11291324" cy="7119349"/>
            <a:chOff x="0" y="0"/>
            <a:chExt cx="5787858" cy="3577910"/>
          </a:xfrm>
        </p:grpSpPr>
        <p:sp>
          <p:nvSpPr>
            <p:cNvPr id="3" name="Rectangle 2">
              <a:extLst>
                <a:ext uri="{FF2B5EF4-FFF2-40B4-BE49-F238E27FC236}">
                  <a16:creationId xmlns:a16="http://schemas.microsoft.com/office/drawing/2014/main" id="{27353F8B-C866-6708-CE9C-2407003F6886}"/>
                </a:ext>
              </a:extLst>
            </p:cNvPr>
            <p:cNvSpPr/>
            <p:nvPr/>
          </p:nvSpPr>
          <p:spPr>
            <a:xfrm>
              <a:off x="5731510" y="3114595"/>
              <a:ext cx="56348" cy="190519"/>
            </a:xfrm>
            <a:prstGeom prst="rect">
              <a:avLst/>
            </a:prstGeom>
            <a:ln>
              <a:noFill/>
            </a:ln>
          </p:spPr>
          <p:txBody>
            <a:bodyPr vert="horz" lIns="0" tIns="0" rIns="0" bIns="0" rtlCol="0">
              <a:noAutofit/>
            </a:bodyPr>
            <a:lstStyle/>
            <a:p>
              <a:pPr marL="6350" marR="7620" indent="-6350">
                <a:lnSpc>
                  <a:spcPct val="107000"/>
                </a:lnSpc>
                <a:spcAft>
                  <a:spcPts val="800"/>
                </a:spcAft>
                <a:buNone/>
              </a:pPr>
              <a:r>
                <a:rPr lang="en-IN" sz="1200" kern="100">
                  <a:solidFill>
                    <a:srgbClr val="000000"/>
                  </a:solidFill>
                  <a:effectLst/>
                  <a:latin typeface="Arial" panose="020B0604020202020204" pitchFamily="34" charset="0"/>
                  <a:ea typeface="Arial" panose="020B0604020202020204" pitchFamily="34" charset="0"/>
                </a:rPr>
                <a:t> </a:t>
              </a:r>
            </a:p>
          </p:txBody>
        </p:sp>
        <p:sp>
          <p:nvSpPr>
            <p:cNvPr id="4" name="Rectangle 3">
              <a:extLst>
                <a:ext uri="{FF2B5EF4-FFF2-40B4-BE49-F238E27FC236}">
                  <a16:creationId xmlns:a16="http://schemas.microsoft.com/office/drawing/2014/main" id="{A39608FF-645B-6C35-A28C-B9CE8D4D80D6}"/>
                </a:ext>
              </a:extLst>
            </p:cNvPr>
            <p:cNvSpPr/>
            <p:nvPr/>
          </p:nvSpPr>
          <p:spPr>
            <a:xfrm>
              <a:off x="305" y="3387391"/>
              <a:ext cx="56348" cy="190519"/>
            </a:xfrm>
            <a:prstGeom prst="rect">
              <a:avLst/>
            </a:prstGeom>
            <a:ln>
              <a:noFill/>
            </a:ln>
          </p:spPr>
          <p:txBody>
            <a:bodyPr vert="horz" lIns="0" tIns="0" rIns="0" bIns="0" rtlCol="0">
              <a:noAutofit/>
            </a:bodyPr>
            <a:lstStyle/>
            <a:p>
              <a:pPr marL="6350" marR="7620" indent="-6350">
                <a:lnSpc>
                  <a:spcPct val="107000"/>
                </a:lnSpc>
                <a:spcAft>
                  <a:spcPts val="800"/>
                </a:spcAft>
                <a:buNone/>
              </a:pPr>
              <a:r>
                <a:rPr lang="en-IN" sz="1200" kern="100">
                  <a:solidFill>
                    <a:srgbClr val="000000"/>
                  </a:solidFill>
                  <a:effectLst/>
                  <a:latin typeface="Arial" panose="020B0604020202020204" pitchFamily="34" charset="0"/>
                  <a:ea typeface="Arial" panose="020B0604020202020204" pitchFamily="34" charset="0"/>
                </a:rPr>
                <a:t> </a:t>
              </a:r>
            </a:p>
          </p:txBody>
        </p:sp>
        <p:pic>
          <p:nvPicPr>
            <p:cNvPr id="5" name="Picture 4">
              <a:extLst>
                <a:ext uri="{FF2B5EF4-FFF2-40B4-BE49-F238E27FC236}">
                  <a16:creationId xmlns:a16="http://schemas.microsoft.com/office/drawing/2014/main" id="{07D7E563-AF28-892C-4BC0-0826D4C9B79F}"/>
                </a:ext>
              </a:extLst>
            </p:cNvPr>
            <p:cNvPicPr/>
            <p:nvPr/>
          </p:nvPicPr>
          <p:blipFill>
            <a:blip r:embed="rId3"/>
            <a:stretch>
              <a:fillRect/>
            </a:stretch>
          </p:blipFill>
          <p:spPr>
            <a:xfrm>
              <a:off x="0" y="0"/>
              <a:ext cx="5731510" cy="3223895"/>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2E7AE-B398-1624-DEAA-9D1A6C69BC6A}"/>
              </a:ext>
            </a:extLst>
          </p:cNvPr>
          <p:cNvSpPr>
            <a:spLocks noGrp="1"/>
          </p:cNvSpPr>
          <p:nvPr>
            <p:ph type="title"/>
          </p:nvPr>
        </p:nvSpPr>
        <p:spPr/>
        <p:txBody>
          <a:bodyPr/>
          <a:lstStyle/>
          <a:p>
            <a:endParaRPr lang="en-IN"/>
          </a:p>
        </p:txBody>
      </p:sp>
      <p:sp>
        <p:nvSpPr>
          <p:cNvPr id="3" name="Text Placeholder 2">
            <a:extLst>
              <a:ext uri="{FF2B5EF4-FFF2-40B4-BE49-F238E27FC236}">
                <a16:creationId xmlns:a16="http://schemas.microsoft.com/office/drawing/2014/main" id="{099E613C-A44F-837C-A81A-0A82441BC507}"/>
              </a:ext>
            </a:extLst>
          </p:cNvPr>
          <p:cNvSpPr>
            <a:spLocks noGrp="1"/>
          </p:cNvSpPr>
          <p:nvPr>
            <p:ph type="body" idx="1"/>
          </p:nvPr>
        </p:nvSpPr>
        <p:spPr/>
        <p:txBody>
          <a:bodyPr/>
          <a:lstStyle/>
          <a:p>
            <a:endParaRPr lang="en-IN"/>
          </a:p>
        </p:txBody>
      </p:sp>
      <p:pic>
        <p:nvPicPr>
          <p:cNvPr id="4" name="Picture 3">
            <a:extLst>
              <a:ext uri="{FF2B5EF4-FFF2-40B4-BE49-F238E27FC236}">
                <a16:creationId xmlns:a16="http://schemas.microsoft.com/office/drawing/2014/main" id="{2937C56A-D1AA-417D-AC31-2FF5A27A87E3}"/>
              </a:ext>
            </a:extLst>
          </p:cNvPr>
          <p:cNvPicPr/>
          <p:nvPr/>
        </p:nvPicPr>
        <p:blipFill>
          <a:blip r:embed="rId2"/>
          <a:stretch>
            <a:fillRect/>
          </a:stretch>
        </p:blipFill>
        <p:spPr>
          <a:xfrm>
            <a:off x="838200" y="265471"/>
            <a:ext cx="10695039" cy="6227403"/>
          </a:xfrm>
          <a:prstGeom prst="rect">
            <a:avLst/>
          </a:prstGeom>
        </p:spPr>
      </p:pic>
    </p:spTree>
    <p:extLst>
      <p:ext uri="{BB962C8B-B14F-4D97-AF65-F5344CB8AC3E}">
        <p14:creationId xmlns:p14="http://schemas.microsoft.com/office/powerpoint/2010/main" val="22162684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B0F9B3-982F-0AA3-7CA5-2493CE23685D}"/>
              </a:ext>
            </a:extLst>
          </p:cNvPr>
          <p:cNvSpPr>
            <a:spLocks noGrp="1"/>
          </p:cNvSpPr>
          <p:nvPr>
            <p:ph type="title"/>
          </p:nvPr>
        </p:nvSpPr>
        <p:spPr/>
        <p:txBody>
          <a:bodyPr/>
          <a:lstStyle/>
          <a:p>
            <a:endParaRPr lang="en-IN"/>
          </a:p>
        </p:txBody>
      </p:sp>
      <p:sp>
        <p:nvSpPr>
          <p:cNvPr id="3" name="Text Placeholder 2">
            <a:extLst>
              <a:ext uri="{FF2B5EF4-FFF2-40B4-BE49-F238E27FC236}">
                <a16:creationId xmlns:a16="http://schemas.microsoft.com/office/drawing/2014/main" id="{7FDAF4DF-5F4B-72A2-8786-217B4A04CC8B}"/>
              </a:ext>
            </a:extLst>
          </p:cNvPr>
          <p:cNvSpPr>
            <a:spLocks noGrp="1"/>
          </p:cNvSpPr>
          <p:nvPr>
            <p:ph type="body" idx="1"/>
          </p:nvPr>
        </p:nvSpPr>
        <p:spPr/>
        <p:txBody>
          <a:bodyPr/>
          <a:lstStyle/>
          <a:p>
            <a:endParaRPr lang="en-IN"/>
          </a:p>
        </p:txBody>
      </p:sp>
      <p:pic>
        <p:nvPicPr>
          <p:cNvPr id="4" name="Picture 3">
            <a:extLst>
              <a:ext uri="{FF2B5EF4-FFF2-40B4-BE49-F238E27FC236}">
                <a16:creationId xmlns:a16="http://schemas.microsoft.com/office/drawing/2014/main" id="{5902D6A0-79EA-9F56-DAE6-B1F52955E71D}"/>
              </a:ext>
            </a:extLst>
          </p:cNvPr>
          <p:cNvPicPr/>
          <p:nvPr/>
        </p:nvPicPr>
        <p:blipFill>
          <a:blip r:embed="rId2"/>
          <a:stretch>
            <a:fillRect/>
          </a:stretch>
        </p:blipFill>
        <p:spPr>
          <a:xfrm>
            <a:off x="658761" y="365124"/>
            <a:ext cx="10815484" cy="6035675"/>
          </a:xfrm>
          <a:prstGeom prst="rect">
            <a:avLst/>
          </a:prstGeom>
        </p:spPr>
      </p:pic>
    </p:spTree>
    <p:extLst>
      <p:ext uri="{BB962C8B-B14F-4D97-AF65-F5344CB8AC3E}">
        <p14:creationId xmlns:p14="http://schemas.microsoft.com/office/powerpoint/2010/main" val="24971565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F39459-BC98-7D10-B9FA-B9F7AA3017C6}"/>
              </a:ext>
            </a:extLst>
          </p:cNvPr>
          <p:cNvSpPr>
            <a:spLocks noGrp="1"/>
          </p:cNvSpPr>
          <p:nvPr>
            <p:ph type="title"/>
          </p:nvPr>
        </p:nvSpPr>
        <p:spPr/>
        <p:txBody>
          <a:bodyPr/>
          <a:lstStyle/>
          <a:p>
            <a:endParaRPr lang="en-IN"/>
          </a:p>
        </p:txBody>
      </p:sp>
      <p:sp>
        <p:nvSpPr>
          <p:cNvPr id="3" name="Text Placeholder 2">
            <a:extLst>
              <a:ext uri="{FF2B5EF4-FFF2-40B4-BE49-F238E27FC236}">
                <a16:creationId xmlns:a16="http://schemas.microsoft.com/office/drawing/2014/main" id="{64165AB5-EE92-C0EE-4C28-7662B082B9E0}"/>
              </a:ext>
            </a:extLst>
          </p:cNvPr>
          <p:cNvSpPr>
            <a:spLocks noGrp="1"/>
          </p:cNvSpPr>
          <p:nvPr>
            <p:ph type="body" idx="1"/>
          </p:nvPr>
        </p:nvSpPr>
        <p:spPr/>
        <p:txBody>
          <a:bodyPr/>
          <a:lstStyle/>
          <a:p>
            <a:endParaRPr lang="en-IN"/>
          </a:p>
        </p:txBody>
      </p:sp>
      <p:grpSp>
        <p:nvGrpSpPr>
          <p:cNvPr id="4" name="Group 3">
            <a:extLst>
              <a:ext uri="{FF2B5EF4-FFF2-40B4-BE49-F238E27FC236}">
                <a16:creationId xmlns:a16="http://schemas.microsoft.com/office/drawing/2014/main" id="{7E2435B8-B218-CAC5-31F6-F8115DB5CFC2}"/>
              </a:ext>
            </a:extLst>
          </p:cNvPr>
          <p:cNvGrpSpPr/>
          <p:nvPr/>
        </p:nvGrpSpPr>
        <p:grpSpPr>
          <a:xfrm>
            <a:off x="639096" y="117988"/>
            <a:ext cx="11179277" cy="6740012"/>
            <a:chOff x="0" y="0"/>
            <a:chExt cx="5787858" cy="3304606"/>
          </a:xfrm>
        </p:grpSpPr>
        <p:sp>
          <p:nvSpPr>
            <p:cNvPr id="5" name="Rectangle 4">
              <a:extLst>
                <a:ext uri="{FF2B5EF4-FFF2-40B4-BE49-F238E27FC236}">
                  <a16:creationId xmlns:a16="http://schemas.microsoft.com/office/drawing/2014/main" id="{7834582B-276F-44EF-2A52-CC2ED3630796}"/>
                </a:ext>
              </a:extLst>
            </p:cNvPr>
            <p:cNvSpPr/>
            <p:nvPr/>
          </p:nvSpPr>
          <p:spPr>
            <a:xfrm>
              <a:off x="5731510" y="3114087"/>
              <a:ext cx="56348" cy="190519"/>
            </a:xfrm>
            <a:prstGeom prst="rect">
              <a:avLst/>
            </a:prstGeom>
            <a:ln>
              <a:noFill/>
            </a:ln>
          </p:spPr>
          <p:txBody>
            <a:bodyPr vert="horz" lIns="0" tIns="0" rIns="0" bIns="0" rtlCol="0">
              <a:noAutofit/>
            </a:bodyPr>
            <a:lstStyle/>
            <a:p>
              <a:pPr marL="6350" marR="7620" indent="-6350">
                <a:lnSpc>
                  <a:spcPct val="107000"/>
                </a:lnSpc>
                <a:spcAft>
                  <a:spcPts val="800"/>
                </a:spcAft>
                <a:buNone/>
              </a:pPr>
              <a:r>
                <a:rPr lang="en-IN" sz="1200" kern="100">
                  <a:solidFill>
                    <a:srgbClr val="000000"/>
                  </a:solidFill>
                  <a:effectLst/>
                  <a:latin typeface="Arial" panose="020B0604020202020204" pitchFamily="34" charset="0"/>
                  <a:ea typeface="Arial" panose="020B0604020202020204" pitchFamily="34" charset="0"/>
                </a:rPr>
                <a:t> </a:t>
              </a:r>
            </a:p>
          </p:txBody>
        </p:sp>
        <p:pic>
          <p:nvPicPr>
            <p:cNvPr id="6" name="Picture 5">
              <a:extLst>
                <a:ext uri="{FF2B5EF4-FFF2-40B4-BE49-F238E27FC236}">
                  <a16:creationId xmlns:a16="http://schemas.microsoft.com/office/drawing/2014/main" id="{C16763D4-B614-C74F-016B-AA81B616F3D7}"/>
                </a:ext>
              </a:extLst>
            </p:cNvPr>
            <p:cNvPicPr/>
            <p:nvPr/>
          </p:nvPicPr>
          <p:blipFill>
            <a:blip r:embed="rId2"/>
            <a:stretch>
              <a:fillRect/>
            </a:stretch>
          </p:blipFill>
          <p:spPr>
            <a:xfrm>
              <a:off x="0" y="0"/>
              <a:ext cx="5731510" cy="3223895"/>
            </a:xfrm>
            <a:prstGeom prst="rect">
              <a:avLst/>
            </a:prstGeom>
          </p:spPr>
        </p:pic>
      </p:grpSp>
    </p:spTree>
    <p:extLst>
      <p:ext uri="{BB962C8B-B14F-4D97-AF65-F5344CB8AC3E}">
        <p14:creationId xmlns:p14="http://schemas.microsoft.com/office/powerpoint/2010/main" val="7051260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B62CEA-4C12-2EC3-A3AE-4C251AC3C16D}"/>
              </a:ext>
            </a:extLst>
          </p:cNvPr>
          <p:cNvSpPr>
            <a:spLocks noGrp="1"/>
          </p:cNvSpPr>
          <p:nvPr>
            <p:ph type="title"/>
          </p:nvPr>
        </p:nvSpPr>
        <p:spPr/>
        <p:txBody>
          <a:bodyPr/>
          <a:lstStyle/>
          <a:p>
            <a:endParaRPr lang="en-IN"/>
          </a:p>
        </p:txBody>
      </p:sp>
      <p:sp>
        <p:nvSpPr>
          <p:cNvPr id="3" name="Text Placeholder 2">
            <a:extLst>
              <a:ext uri="{FF2B5EF4-FFF2-40B4-BE49-F238E27FC236}">
                <a16:creationId xmlns:a16="http://schemas.microsoft.com/office/drawing/2014/main" id="{E9893E2D-EFAA-3428-E760-7DB2133DEFDE}"/>
              </a:ext>
            </a:extLst>
          </p:cNvPr>
          <p:cNvSpPr>
            <a:spLocks noGrp="1"/>
          </p:cNvSpPr>
          <p:nvPr>
            <p:ph type="body" idx="1"/>
          </p:nvPr>
        </p:nvSpPr>
        <p:spPr/>
        <p:txBody>
          <a:bodyPr/>
          <a:lstStyle/>
          <a:p>
            <a:endParaRPr lang="en-IN" dirty="0"/>
          </a:p>
        </p:txBody>
      </p:sp>
      <p:pic>
        <p:nvPicPr>
          <p:cNvPr id="4" name="Picture 3">
            <a:extLst>
              <a:ext uri="{FF2B5EF4-FFF2-40B4-BE49-F238E27FC236}">
                <a16:creationId xmlns:a16="http://schemas.microsoft.com/office/drawing/2014/main" id="{563BDBC9-155F-855F-5177-C4B94F1A2899}"/>
              </a:ext>
            </a:extLst>
          </p:cNvPr>
          <p:cNvPicPr/>
          <p:nvPr/>
        </p:nvPicPr>
        <p:blipFill>
          <a:blip r:embed="rId2"/>
          <a:stretch>
            <a:fillRect/>
          </a:stretch>
        </p:blipFill>
        <p:spPr>
          <a:xfrm>
            <a:off x="540774" y="157316"/>
            <a:ext cx="11031794" cy="6263149"/>
          </a:xfrm>
          <a:prstGeom prst="rect">
            <a:avLst/>
          </a:prstGeom>
        </p:spPr>
      </p:pic>
    </p:spTree>
    <p:extLst>
      <p:ext uri="{BB962C8B-B14F-4D97-AF65-F5344CB8AC3E}">
        <p14:creationId xmlns:p14="http://schemas.microsoft.com/office/powerpoint/2010/main" val="37566955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400778-3ECB-50EF-5602-EFE5E78203E8}"/>
              </a:ext>
            </a:extLst>
          </p:cNvPr>
          <p:cNvSpPr>
            <a:spLocks noGrp="1"/>
          </p:cNvSpPr>
          <p:nvPr>
            <p:ph type="title"/>
          </p:nvPr>
        </p:nvSpPr>
        <p:spPr/>
        <p:txBody>
          <a:bodyPr/>
          <a:lstStyle/>
          <a:p>
            <a:endParaRPr lang="en-IN"/>
          </a:p>
        </p:txBody>
      </p:sp>
      <p:sp>
        <p:nvSpPr>
          <p:cNvPr id="3" name="Text Placeholder 2">
            <a:extLst>
              <a:ext uri="{FF2B5EF4-FFF2-40B4-BE49-F238E27FC236}">
                <a16:creationId xmlns:a16="http://schemas.microsoft.com/office/drawing/2014/main" id="{8E5CD0A7-8B44-7370-97F8-CD9207682DF3}"/>
              </a:ext>
            </a:extLst>
          </p:cNvPr>
          <p:cNvSpPr>
            <a:spLocks noGrp="1"/>
          </p:cNvSpPr>
          <p:nvPr>
            <p:ph type="body" idx="1"/>
          </p:nvPr>
        </p:nvSpPr>
        <p:spPr/>
        <p:txBody>
          <a:bodyPr/>
          <a:lstStyle/>
          <a:p>
            <a:endParaRPr lang="en-IN"/>
          </a:p>
        </p:txBody>
      </p:sp>
      <p:pic>
        <p:nvPicPr>
          <p:cNvPr id="4" name="Picture 3">
            <a:extLst>
              <a:ext uri="{FF2B5EF4-FFF2-40B4-BE49-F238E27FC236}">
                <a16:creationId xmlns:a16="http://schemas.microsoft.com/office/drawing/2014/main" id="{A7A9DFE5-7844-75C2-34C5-598B0C1123F3}"/>
              </a:ext>
            </a:extLst>
          </p:cNvPr>
          <p:cNvPicPr/>
          <p:nvPr/>
        </p:nvPicPr>
        <p:blipFill>
          <a:blip r:embed="rId2"/>
          <a:stretch>
            <a:fillRect/>
          </a:stretch>
        </p:blipFill>
        <p:spPr>
          <a:xfrm>
            <a:off x="491612" y="245806"/>
            <a:ext cx="11080955" cy="6247069"/>
          </a:xfrm>
          <a:prstGeom prst="rect">
            <a:avLst/>
          </a:prstGeom>
        </p:spPr>
      </p:pic>
    </p:spTree>
    <p:extLst>
      <p:ext uri="{BB962C8B-B14F-4D97-AF65-F5344CB8AC3E}">
        <p14:creationId xmlns:p14="http://schemas.microsoft.com/office/powerpoint/2010/main" val="16432290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5"/>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Calibri"/>
              <a:buNone/>
            </a:pPr>
            <a:endParaRPr dirty="0"/>
          </a:p>
        </p:txBody>
      </p:sp>
      <p:sp>
        <p:nvSpPr>
          <p:cNvPr id="173" name="Google Shape;173;p25"/>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457200" lvl="0" indent="-228600" algn="l" rtl="0">
              <a:lnSpc>
                <a:spcPct val="90000"/>
              </a:lnSpc>
              <a:spcBef>
                <a:spcPts val="1000"/>
              </a:spcBef>
              <a:spcAft>
                <a:spcPts val="0"/>
              </a:spcAft>
              <a:buClr>
                <a:srgbClr val="888888"/>
              </a:buClr>
              <a:buSzPts val="2400"/>
              <a:buNone/>
            </a:pPr>
            <a:endParaRPr/>
          </a:p>
        </p:txBody>
      </p:sp>
      <p:pic>
        <p:nvPicPr>
          <p:cNvPr id="2" name="Picture 1">
            <a:extLst>
              <a:ext uri="{FF2B5EF4-FFF2-40B4-BE49-F238E27FC236}">
                <a16:creationId xmlns:a16="http://schemas.microsoft.com/office/drawing/2014/main" id="{74476987-0EA0-5CF9-B6A4-A397440F669D}"/>
              </a:ext>
            </a:extLst>
          </p:cNvPr>
          <p:cNvPicPr/>
          <p:nvPr/>
        </p:nvPicPr>
        <p:blipFill>
          <a:blip r:embed="rId3"/>
          <a:stretch>
            <a:fillRect/>
          </a:stretch>
        </p:blipFill>
        <p:spPr>
          <a:xfrm>
            <a:off x="491613" y="117988"/>
            <a:ext cx="11120284" cy="674001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6"/>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Calibri"/>
              <a:buNone/>
            </a:pPr>
            <a:endParaRPr/>
          </a:p>
        </p:txBody>
      </p:sp>
      <p:sp>
        <p:nvSpPr>
          <p:cNvPr id="179" name="Google Shape;179;p26"/>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457200" lvl="0" indent="-228600" algn="l" rtl="0">
              <a:lnSpc>
                <a:spcPct val="90000"/>
              </a:lnSpc>
              <a:spcBef>
                <a:spcPts val="1000"/>
              </a:spcBef>
              <a:spcAft>
                <a:spcPts val="0"/>
              </a:spcAft>
              <a:buClr>
                <a:srgbClr val="888888"/>
              </a:buClr>
              <a:buSzPts val="2400"/>
              <a:buNone/>
            </a:pPr>
            <a:endParaRPr dirty="0"/>
          </a:p>
        </p:txBody>
      </p:sp>
      <p:pic>
        <p:nvPicPr>
          <p:cNvPr id="2" name="Picture 1">
            <a:extLst>
              <a:ext uri="{FF2B5EF4-FFF2-40B4-BE49-F238E27FC236}">
                <a16:creationId xmlns:a16="http://schemas.microsoft.com/office/drawing/2014/main" id="{3CEEA7B1-D811-9A2A-48CA-414143640C3D}"/>
              </a:ext>
            </a:extLst>
          </p:cNvPr>
          <p:cNvPicPr/>
          <p:nvPr/>
        </p:nvPicPr>
        <p:blipFill>
          <a:blip r:embed="rId3"/>
          <a:stretch>
            <a:fillRect/>
          </a:stretch>
        </p:blipFill>
        <p:spPr>
          <a:xfrm>
            <a:off x="452284" y="521110"/>
            <a:ext cx="11621729" cy="587969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2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Calibri"/>
              <a:buNone/>
            </a:pPr>
            <a:endParaRPr/>
          </a:p>
        </p:txBody>
      </p:sp>
      <p:sp>
        <p:nvSpPr>
          <p:cNvPr id="185" name="Google Shape;185;p2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457200" lvl="0" indent="-228600" algn="l" rtl="0">
              <a:lnSpc>
                <a:spcPct val="90000"/>
              </a:lnSpc>
              <a:spcBef>
                <a:spcPts val="1000"/>
              </a:spcBef>
              <a:spcAft>
                <a:spcPts val="0"/>
              </a:spcAft>
              <a:buClr>
                <a:srgbClr val="888888"/>
              </a:buClr>
              <a:buSzPts val="2400"/>
              <a:buNone/>
            </a:pPr>
            <a:endParaRPr/>
          </a:p>
        </p:txBody>
      </p:sp>
      <p:pic>
        <p:nvPicPr>
          <p:cNvPr id="2" name="Picture 1">
            <a:extLst>
              <a:ext uri="{FF2B5EF4-FFF2-40B4-BE49-F238E27FC236}">
                <a16:creationId xmlns:a16="http://schemas.microsoft.com/office/drawing/2014/main" id="{B1FF50A3-F07E-F75A-8E79-2B0EEF43F8D7}"/>
              </a:ext>
            </a:extLst>
          </p:cNvPr>
          <p:cNvPicPr/>
          <p:nvPr/>
        </p:nvPicPr>
        <p:blipFill>
          <a:blip r:embed="rId3"/>
          <a:stretch>
            <a:fillRect/>
          </a:stretch>
        </p:blipFill>
        <p:spPr>
          <a:xfrm>
            <a:off x="747251" y="768350"/>
            <a:ext cx="11189109" cy="555379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Calibri"/>
              <a:buNone/>
            </a:pPr>
            <a:endParaRPr/>
          </a:p>
        </p:txBody>
      </p:sp>
      <p:sp>
        <p:nvSpPr>
          <p:cNvPr id="167" name="Google Shape;167;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457200" lvl="0" indent="-228600" algn="l" rtl="0">
              <a:lnSpc>
                <a:spcPct val="90000"/>
              </a:lnSpc>
              <a:spcBef>
                <a:spcPts val="1000"/>
              </a:spcBef>
              <a:spcAft>
                <a:spcPts val="0"/>
              </a:spcAft>
              <a:buClr>
                <a:srgbClr val="888888"/>
              </a:buClr>
              <a:buSzPts val="2400"/>
              <a:buNone/>
            </a:pPr>
            <a:endParaRPr/>
          </a:p>
        </p:txBody>
      </p:sp>
      <p:pic>
        <p:nvPicPr>
          <p:cNvPr id="2" name="Picture 1">
            <a:extLst>
              <a:ext uri="{FF2B5EF4-FFF2-40B4-BE49-F238E27FC236}">
                <a16:creationId xmlns:a16="http://schemas.microsoft.com/office/drawing/2014/main" id="{559F4A30-D100-3781-0A78-448D2BAC7D9D}"/>
              </a:ext>
            </a:extLst>
          </p:cNvPr>
          <p:cNvPicPr/>
          <p:nvPr/>
        </p:nvPicPr>
        <p:blipFill>
          <a:blip r:embed="rId3"/>
          <a:stretch>
            <a:fillRect/>
          </a:stretch>
        </p:blipFill>
        <p:spPr>
          <a:xfrm>
            <a:off x="471948" y="384285"/>
            <a:ext cx="11248103" cy="608943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8"/>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Git Hub Link</a:t>
            </a:r>
            <a:endParaRPr sz="2400" b="1" i="0" u="none" strike="noStrike" cap="none">
              <a:solidFill>
                <a:srgbClr val="000000"/>
              </a:solidFill>
              <a:latin typeface="Arial"/>
              <a:ea typeface="Arial"/>
              <a:cs typeface="Arial"/>
              <a:sym typeface="Arial"/>
            </a:endParaRPr>
          </a:p>
        </p:txBody>
      </p:sp>
      <p:sp>
        <p:nvSpPr>
          <p:cNvPr id="191" name="Google Shape;191;p28"/>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endParaRPr dirty="0"/>
          </a:p>
          <a:p>
            <a:pPr marL="0" marR="0" lvl="0" indent="0" algn="l" rtl="0">
              <a:lnSpc>
                <a:spcPct val="162162"/>
              </a:lnSpc>
              <a:spcBef>
                <a:spcPts val="0"/>
              </a:spcBef>
              <a:spcAft>
                <a:spcPts val="0"/>
              </a:spcAft>
              <a:buNone/>
            </a:pPr>
            <a:r>
              <a:rPr lang="en-US" sz="1850" b="0" i="0" u="none" strike="noStrike" cap="none" dirty="0">
                <a:solidFill>
                  <a:srgbClr val="2B3541"/>
                </a:solidFill>
                <a:latin typeface="Times New Roman"/>
                <a:ea typeface="Times New Roman"/>
                <a:cs typeface="Times New Roman"/>
                <a:sym typeface="Times New Roman"/>
              </a:rPr>
              <a:t>Please test and Paste the working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URL –</a:t>
            </a:r>
            <a:endParaRPr dirty="0"/>
          </a:p>
          <a:p>
            <a:pPr lvl="0">
              <a:lnSpc>
                <a:spcPct val="162162"/>
              </a:lnSpc>
            </a:pPr>
            <a:r>
              <a:rPr lang="en-IN" dirty="0">
                <a:hlinkClick r:id="rId3"/>
              </a:rPr>
              <a:t>https://github.com/Melisa-Gompana/Street-Vendor-Digitalization-Agent-finalibmproject.git</a:t>
            </a:r>
            <a:endParaRPr lang="en-IN" dirty="0"/>
          </a:p>
          <a:p>
            <a:pPr lvl="0">
              <a:lnSpc>
                <a:spcPct val="162162"/>
              </a:lnSpc>
            </a:pPr>
            <a:endParaRPr dirty="0"/>
          </a:p>
          <a:p>
            <a:pPr marL="0" marR="0" lvl="0" indent="0" algn="l" rtl="0">
              <a:lnSpc>
                <a:spcPct val="162162"/>
              </a:lnSpc>
              <a:spcBef>
                <a:spcPts val="0"/>
              </a:spcBef>
              <a:spcAft>
                <a:spcPts val="0"/>
              </a:spcAft>
              <a:buNone/>
            </a:pPr>
            <a:endParaRPr sz="1850" b="0" i="0" u="none" strike="noStrike" cap="none"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None/>
            </a:pPr>
            <a:r>
              <a:rPr lang="en-US" sz="1850" b="1" i="0" u="none" strike="noStrike" cap="none" dirty="0">
                <a:solidFill>
                  <a:srgbClr val="2B3541"/>
                </a:solidFill>
                <a:latin typeface="Times New Roman"/>
                <a:ea typeface="Times New Roman"/>
                <a:cs typeface="Times New Roman"/>
                <a:sym typeface="Times New Roman"/>
              </a:rPr>
              <a:t>Make sure you have Uploaded following three files into your </a:t>
            </a:r>
            <a:r>
              <a:rPr lang="en-US" sz="1850" b="1" i="0" u="none" strike="noStrike" cap="none" dirty="0" err="1">
                <a:solidFill>
                  <a:srgbClr val="2B3541"/>
                </a:solidFill>
                <a:latin typeface="Times New Roman"/>
                <a:ea typeface="Times New Roman"/>
                <a:cs typeface="Times New Roman"/>
                <a:sym typeface="Times New Roman"/>
              </a:rPr>
              <a:t>github</a:t>
            </a:r>
            <a:r>
              <a:rPr lang="en-US" sz="1850" b="1" i="0" u="none" strike="noStrike" cap="none" dirty="0">
                <a:solidFill>
                  <a:srgbClr val="2B3541"/>
                </a:solidFill>
                <a:latin typeface="Times New Roman"/>
                <a:ea typeface="Times New Roman"/>
                <a:cs typeface="Times New Roman"/>
                <a:sym typeface="Times New Roman"/>
              </a:rPr>
              <a:t> repository  </a:t>
            </a:r>
            <a:br>
              <a:rPr lang="en-US" sz="1850" b="0" i="0" u="none" strike="noStrike" cap="none" dirty="0">
                <a:solidFill>
                  <a:srgbClr val="2B3541"/>
                </a:solidFill>
                <a:latin typeface="Times New Roman"/>
                <a:ea typeface="Times New Roman"/>
                <a:cs typeface="Times New Roman"/>
                <a:sym typeface="Times New Roman"/>
              </a:rPr>
            </a:br>
            <a:r>
              <a:rPr lang="en-US" sz="1850" b="0" i="0" u="none" strike="noStrike" cap="none" dirty="0">
                <a:solidFill>
                  <a:srgbClr val="2B3541"/>
                </a:solidFill>
                <a:latin typeface="Times New Roman"/>
                <a:ea typeface="Times New Roman"/>
                <a:cs typeface="Times New Roman"/>
                <a:sym typeface="Times New Roman"/>
              </a:rPr>
              <a:t>1) </a:t>
            </a:r>
            <a:r>
              <a:rPr lang="en-US" sz="1850" b="0" i="0" u="none" strike="noStrike" cap="none" dirty="0" err="1">
                <a:solidFill>
                  <a:srgbClr val="2B3541"/>
                </a:solidFill>
                <a:latin typeface="Times New Roman"/>
                <a:ea typeface="Times New Roman"/>
                <a:cs typeface="Times New Roman"/>
                <a:sym typeface="Times New Roman"/>
              </a:rPr>
              <a:t>app.json</a:t>
            </a:r>
            <a:r>
              <a:rPr lang="en-US" sz="1850" b="0" i="0" u="none" strike="noStrike" cap="none" dirty="0">
                <a:solidFill>
                  <a:srgbClr val="2B3541"/>
                </a:solidFill>
                <a:latin typeface="Times New Roman"/>
                <a:ea typeface="Times New Roman"/>
                <a:cs typeface="Times New Roman"/>
                <a:sym typeface="Times New Roman"/>
              </a:rPr>
              <a:t> file , 2) yourproblemstatement.pdf file  3) your projectpresntation.pptx file 4)any other files </a:t>
            </a:r>
            <a:endParaRPr dirty="0"/>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192" name="Google Shape;192;p2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93" name="Google Shape;193;p2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94" name="Google Shape;194;p2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29"/>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Future Scope </a:t>
            </a:r>
            <a:endParaRPr sz="2400" b="1" i="0" u="none" strike="noStrike" cap="none">
              <a:solidFill>
                <a:srgbClr val="000000"/>
              </a:solidFill>
              <a:latin typeface="Arial"/>
              <a:ea typeface="Arial"/>
              <a:cs typeface="Arial"/>
              <a:sym typeface="Arial"/>
            </a:endParaRPr>
          </a:p>
        </p:txBody>
      </p:sp>
      <p:sp>
        <p:nvSpPr>
          <p:cNvPr id="200" name="Google Shape;200;p29"/>
          <p:cNvSpPr/>
          <p:nvPr/>
        </p:nvSpPr>
        <p:spPr>
          <a:xfrm>
            <a:off x="1218725" y="1560725"/>
            <a:ext cx="8886000" cy="47979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400"/>
              <a:t>1. AI-Powered Voice Assistant &amp; Multilingual Support –</a:t>
            </a:r>
            <a:endParaRPr sz="2400"/>
          </a:p>
          <a:p>
            <a:pPr marL="0" lvl="0" indent="0" algn="l" rtl="0">
              <a:spcBef>
                <a:spcPts val="0"/>
              </a:spcBef>
              <a:spcAft>
                <a:spcPts val="0"/>
              </a:spcAft>
              <a:buNone/>
            </a:pPr>
            <a:r>
              <a:rPr lang="en-US" sz="2400"/>
              <a:t>The system can be enhanced with a voice-enabled assistant and support for multiple regional languages, allowing street vendors to interact naturally in their preferred language. This will improve accessibility and make the solution more inclusive for vendors with varying levels of digital literacy.</a:t>
            </a:r>
            <a:endParaRPr sz="2400"/>
          </a:p>
          <a:p>
            <a:pPr marL="0" lvl="0" indent="0" algn="l" rtl="0">
              <a:spcBef>
                <a:spcPts val="0"/>
              </a:spcBef>
              <a:spcAft>
                <a:spcPts val="0"/>
              </a:spcAft>
              <a:buNone/>
            </a:pPr>
            <a:r>
              <a:rPr lang="en-US" sz="2400"/>
              <a:t>2. Integration with Digital Commerce &amp; Financial Services –</a:t>
            </a:r>
            <a:endParaRPr sz="2400"/>
          </a:p>
          <a:p>
            <a:pPr marL="0" lvl="0" indent="0" algn="l" rtl="0">
              <a:spcBef>
                <a:spcPts val="0"/>
              </a:spcBef>
              <a:spcAft>
                <a:spcPts val="0"/>
              </a:spcAft>
              <a:buNone/>
            </a:pPr>
            <a:r>
              <a:rPr lang="en-US" sz="2400"/>
              <a:t>The system can be integrated with digital payment platforms, e-commerce marketplaces, and government portals to provide real-time updates on MSME schemes, business registrations, UPI services, and financial assistance. This will help vendors expand their digital presence, improve customer reach, and access business growth opportunities more effectively.</a:t>
            </a:r>
            <a:endParaRPr sz="24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30"/>
          <p:cNvSpPr txBox="1"/>
          <p:nvPr/>
        </p:nvSpPr>
        <p:spPr>
          <a:xfrm>
            <a:off x="327949" y="207380"/>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Certificates Earned:</a:t>
            </a:r>
            <a:endParaRPr/>
          </a:p>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06" name="Google Shape;206;p30"/>
          <p:cNvSpPr txBox="1"/>
          <p:nvPr/>
        </p:nvSpPr>
        <p:spPr>
          <a:xfrm>
            <a:off x="552048" y="690061"/>
            <a:ext cx="6389965" cy="5232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800" b="1" i="0" u="none" strike="noStrike" cap="none">
                <a:solidFill>
                  <a:srgbClr val="000000"/>
                </a:solidFill>
                <a:latin typeface="Arial"/>
                <a:ea typeface="Arial"/>
                <a:cs typeface="Arial"/>
                <a:sym typeface="Arial"/>
              </a:rPr>
              <a:t>Please  add your credly certificate </a:t>
            </a:r>
            <a:endParaRPr/>
          </a:p>
        </p:txBody>
      </p:sp>
      <p:pic>
        <p:nvPicPr>
          <p:cNvPr id="207" name="Google Shape;207;p30"/>
          <p:cNvPicPr preferRelativeResize="0"/>
          <p:nvPr/>
        </p:nvPicPr>
        <p:blipFill rotWithShape="1">
          <a:blip r:embed="rId3">
            <a:alphaModFix/>
          </a:blip>
          <a:srcRect l="4861" t="4161" r="5282" b="3633"/>
          <a:stretch/>
        </p:blipFill>
        <p:spPr>
          <a:xfrm>
            <a:off x="1537437" y="1367169"/>
            <a:ext cx="7711440" cy="5414712"/>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1"/>
          <p:cNvSpPr txBox="1"/>
          <p:nvPr/>
        </p:nvSpPr>
        <p:spPr>
          <a:xfrm>
            <a:off x="176696" y="226391"/>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Certificates Earned:</a:t>
            </a:r>
            <a:r>
              <a:rPr lang="en-US" sz="2400" b="0" i="0" u="none" strike="noStrike" cap="none">
                <a:solidFill>
                  <a:srgbClr val="000000"/>
                </a:solidFill>
                <a:latin typeface="Arial"/>
                <a:ea typeface="Arial"/>
                <a:cs typeface="Arial"/>
                <a:sym typeface="Arial"/>
              </a:rPr>
              <a:t>​</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213" name="Google Shape;213;p31"/>
          <p:cNvSpPr txBox="1"/>
          <p:nvPr/>
        </p:nvSpPr>
        <p:spPr>
          <a:xfrm>
            <a:off x="496843" y="800470"/>
            <a:ext cx="5437681"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1" i="0" u="none" strike="noStrike" cap="none">
                <a:solidFill>
                  <a:srgbClr val="000000"/>
                </a:solidFill>
                <a:latin typeface="Arial"/>
                <a:ea typeface="Arial"/>
                <a:cs typeface="Arial"/>
                <a:sym typeface="Arial"/>
              </a:rPr>
              <a:t>Add your IBM BOB Certificate</a:t>
            </a:r>
            <a:endParaRPr/>
          </a:p>
        </p:txBody>
      </p:sp>
      <p:pic>
        <p:nvPicPr>
          <p:cNvPr id="214" name="Google Shape;214;p31"/>
          <p:cNvPicPr preferRelativeResize="0"/>
          <p:nvPr/>
        </p:nvPicPr>
        <p:blipFill rotWithShape="1">
          <a:blip r:embed="rId3">
            <a:alphaModFix/>
          </a:blip>
          <a:srcRect/>
          <a:stretch/>
        </p:blipFill>
        <p:spPr>
          <a:xfrm>
            <a:off x="2556386" y="1253445"/>
            <a:ext cx="8592111" cy="5280973"/>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pic>
        <p:nvPicPr>
          <p:cNvPr id="219" name="Google Shape;219;p32"/>
          <p:cNvPicPr preferRelativeResize="0"/>
          <p:nvPr/>
        </p:nvPicPr>
        <p:blipFill rotWithShape="1">
          <a:blip r:embed="rId3">
            <a:alphaModFix/>
          </a:blip>
          <a:srcRect/>
          <a:stretch/>
        </p:blipFill>
        <p:spPr>
          <a:xfrm>
            <a:off x="0" y="2190302"/>
            <a:ext cx="12192000" cy="2477396"/>
          </a:xfrm>
          <a:prstGeom prst="rect">
            <a:avLst/>
          </a:prstGeom>
          <a:noFill/>
          <a:ln>
            <a:noFill/>
          </a:ln>
        </p:spPr>
      </p:pic>
      <p:sp>
        <p:nvSpPr>
          <p:cNvPr id="220" name="Google Shape;220;p32"/>
          <p:cNvSpPr txBox="1"/>
          <p:nvPr/>
        </p:nvSpPr>
        <p:spPr>
          <a:xfrm>
            <a:off x="8514735" y="5627912"/>
            <a:ext cx="6096000" cy="95406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 </a:t>
            </a:r>
            <a:r>
              <a:rPr lang="en-US" sz="1400" b="0" i="0" u="sng" strike="noStrike" cap="none" dirty="0">
                <a:solidFill>
                  <a:srgbClr val="000000"/>
                </a:solidFill>
                <a:latin typeface="Arial"/>
                <a:ea typeface="Arial"/>
                <a:cs typeface="Arial"/>
                <a:sym typeface="Arial"/>
                <a:hlinkClick r:id="rId4">
                  <a:extLst>
                    <a:ext uri="{A12FA001-AC4F-418D-AE19-62706E023703}">
                      <ahyp:hlinkClr xmlns:ahyp="http://schemas.microsoft.com/office/drawing/2018/hyperlinkcolor" val="tx"/>
                    </a:ext>
                  </a:extLst>
                </a:hlinkClick>
              </a:rPr>
              <a:t>EFIBM26263550864@edunetmail.com</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 Edu#863082</a:t>
            </a:r>
          </a:p>
          <a:p>
            <a:pPr lvl="0"/>
            <a:r>
              <a:rPr lang="en-IN" dirty="0"/>
              <a:t>STU6707a1655b38e1728553317</a:t>
            </a:r>
          </a:p>
          <a:p>
            <a:pPr lvl="0"/>
            <a:endParaRPr dirty="0"/>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TotalTime>
  <Words>1747</Words>
  <Application>Microsoft Office PowerPoint</Application>
  <PresentationFormat>Widescreen</PresentationFormat>
  <Paragraphs>112</Paragraphs>
  <Slides>27</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G MELISA</dc:creator>
  <cp:lastModifiedBy>melisagompana@outlook.com</cp:lastModifiedBy>
  <cp:revision>2</cp:revision>
  <dcterms:modified xsi:type="dcterms:W3CDTF">2026-07-10T14:30:04Z</dcterms:modified>
</cp:coreProperties>
</file>